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26"/>
  </p:notesMasterIdLst>
  <p:sldIdLst>
    <p:sldId id="256" r:id="rId5"/>
    <p:sldId id="258" r:id="rId6"/>
    <p:sldId id="270" r:id="rId7"/>
    <p:sldId id="275" r:id="rId8"/>
    <p:sldId id="259" r:id="rId9"/>
    <p:sldId id="260" r:id="rId10"/>
    <p:sldId id="261" r:id="rId11"/>
    <p:sldId id="262" r:id="rId12"/>
    <p:sldId id="271" r:id="rId13"/>
    <p:sldId id="277" r:id="rId14"/>
    <p:sldId id="276" r:id="rId15"/>
    <p:sldId id="278" r:id="rId16"/>
    <p:sldId id="263" r:id="rId17"/>
    <p:sldId id="265" r:id="rId18"/>
    <p:sldId id="266" r:id="rId19"/>
    <p:sldId id="267" r:id="rId20"/>
    <p:sldId id="268" r:id="rId21"/>
    <p:sldId id="269" r:id="rId22"/>
    <p:sldId id="274" r:id="rId23"/>
    <p:sldId id="273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7B602-375B-48FD-9148-415FB328EC4C}" v="7" dt="2025-05-21T19:22:31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94429"/>
  </p:normalViewPr>
  <p:slideViewPr>
    <p:cSldViewPr>
      <p:cViewPr varScale="1">
        <p:scale>
          <a:sx n="115" d="100"/>
          <a:sy n="115" d="100"/>
        </p:scale>
        <p:origin x="44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820588-576F-4F23-9231-484AF6F9353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62F949-F4BB-4B0E-9AC5-9EFFB39519B8}">
      <dgm:prSet/>
      <dgm:spPr/>
      <dgm:t>
        <a:bodyPr/>
        <a:lstStyle/>
        <a:p>
          <a:pPr>
            <a:defRPr cap="all"/>
          </a:pPr>
          <a:r>
            <a:rPr lang="en-US"/>
            <a:t>Current Events</a:t>
          </a:r>
        </a:p>
      </dgm:t>
    </dgm:pt>
    <dgm:pt modelId="{A0CE6CB3-A028-41D8-A4E2-116BD0731F06}" type="parTrans" cxnId="{16212A25-40F1-4996-A404-3DB75E6A5AA7}">
      <dgm:prSet/>
      <dgm:spPr/>
      <dgm:t>
        <a:bodyPr/>
        <a:lstStyle/>
        <a:p>
          <a:endParaRPr lang="en-US"/>
        </a:p>
      </dgm:t>
    </dgm:pt>
    <dgm:pt modelId="{64ED7293-1E84-4B3B-A211-729C38376400}" type="sibTrans" cxnId="{16212A25-40F1-4996-A404-3DB75E6A5AA7}">
      <dgm:prSet/>
      <dgm:spPr/>
      <dgm:t>
        <a:bodyPr/>
        <a:lstStyle/>
        <a:p>
          <a:endParaRPr lang="en-US"/>
        </a:p>
      </dgm:t>
    </dgm:pt>
    <dgm:pt modelId="{2796B458-AB56-4108-BCDA-4AD5F90530E7}">
      <dgm:prSet/>
      <dgm:spPr/>
      <dgm:t>
        <a:bodyPr/>
        <a:lstStyle/>
        <a:p>
          <a:pPr>
            <a:defRPr cap="all"/>
          </a:pPr>
          <a:r>
            <a:rPr lang="en-US" dirty="0"/>
            <a:t>Economic Notes</a:t>
          </a:r>
        </a:p>
      </dgm:t>
    </dgm:pt>
    <dgm:pt modelId="{3BAB62AE-6DAB-443E-B353-F2FEE2987C5D}" type="parTrans" cxnId="{6DF0D834-66CB-4393-ACE0-51433F397A2A}">
      <dgm:prSet/>
      <dgm:spPr/>
      <dgm:t>
        <a:bodyPr/>
        <a:lstStyle/>
        <a:p>
          <a:endParaRPr lang="en-US"/>
        </a:p>
      </dgm:t>
    </dgm:pt>
    <dgm:pt modelId="{0B2C64D0-588E-4E1C-8970-CB17A7913A11}" type="sibTrans" cxnId="{6DF0D834-66CB-4393-ACE0-51433F397A2A}">
      <dgm:prSet/>
      <dgm:spPr/>
      <dgm:t>
        <a:bodyPr/>
        <a:lstStyle/>
        <a:p>
          <a:endParaRPr lang="en-US"/>
        </a:p>
      </dgm:t>
    </dgm:pt>
    <dgm:pt modelId="{A4554E1F-8A75-4217-A49B-5CFA9F3F67CA}">
      <dgm:prSet/>
      <dgm:spPr/>
      <dgm:t>
        <a:bodyPr/>
        <a:lstStyle/>
        <a:p>
          <a:pPr>
            <a:defRPr cap="all"/>
          </a:pPr>
          <a:r>
            <a:rPr lang="en-US" dirty="0"/>
            <a:t>Start Writing assignment</a:t>
          </a:r>
        </a:p>
      </dgm:t>
    </dgm:pt>
    <dgm:pt modelId="{91AC0694-3058-4AF9-A32C-F3DC24D3871E}" type="parTrans" cxnId="{DB8A5209-2505-43F6-A92D-70E3D1F28A51}">
      <dgm:prSet/>
      <dgm:spPr/>
      <dgm:t>
        <a:bodyPr/>
        <a:lstStyle/>
        <a:p>
          <a:endParaRPr lang="en-US"/>
        </a:p>
      </dgm:t>
    </dgm:pt>
    <dgm:pt modelId="{EC07C461-1F0E-4FB2-8067-6088943F21F0}" type="sibTrans" cxnId="{DB8A5209-2505-43F6-A92D-70E3D1F28A51}">
      <dgm:prSet/>
      <dgm:spPr/>
      <dgm:t>
        <a:bodyPr/>
        <a:lstStyle/>
        <a:p>
          <a:endParaRPr lang="en-US"/>
        </a:p>
      </dgm:t>
    </dgm:pt>
    <dgm:pt modelId="{19F1840E-0852-43DF-9375-4EBD455082DB}" type="pres">
      <dgm:prSet presAssocID="{9A820588-576F-4F23-9231-484AF6F93538}" presName="root" presStyleCnt="0">
        <dgm:presLayoutVars>
          <dgm:dir/>
          <dgm:resizeHandles val="exact"/>
        </dgm:presLayoutVars>
      </dgm:prSet>
      <dgm:spPr/>
    </dgm:pt>
    <dgm:pt modelId="{F6D99979-7361-4D4A-9C7F-7A6DA00B5B08}" type="pres">
      <dgm:prSet presAssocID="{4B62F949-F4BB-4B0E-9AC5-9EFFB39519B8}" presName="compNode" presStyleCnt="0"/>
      <dgm:spPr/>
    </dgm:pt>
    <dgm:pt modelId="{77644367-4F90-4540-8D64-06C4F14E4BBE}" type="pres">
      <dgm:prSet presAssocID="{4B62F949-F4BB-4B0E-9AC5-9EFFB39519B8}" presName="iconBgRect" presStyleLbl="bgShp" presStyleIdx="0" presStyleCnt="3"/>
      <dgm:spPr/>
    </dgm:pt>
    <dgm:pt modelId="{E058A4E1-18A4-4CE5-B7A3-185D611B2FAC}" type="pres">
      <dgm:prSet presAssocID="{4B62F949-F4BB-4B0E-9AC5-9EFFB39519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721024-B203-4068-9A4A-0112F9BA1B5C}" type="pres">
      <dgm:prSet presAssocID="{4B62F949-F4BB-4B0E-9AC5-9EFFB39519B8}" presName="spaceRect" presStyleCnt="0"/>
      <dgm:spPr/>
    </dgm:pt>
    <dgm:pt modelId="{ED755B73-98B7-45A2-9199-701A81680678}" type="pres">
      <dgm:prSet presAssocID="{4B62F949-F4BB-4B0E-9AC5-9EFFB39519B8}" presName="textRect" presStyleLbl="revTx" presStyleIdx="0" presStyleCnt="3">
        <dgm:presLayoutVars>
          <dgm:chMax val="1"/>
          <dgm:chPref val="1"/>
        </dgm:presLayoutVars>
      </dgm:prSet>
      <dgm:spPr/>
    </dgm:pt>
    <dgm:pt modelId="{2C638612-37FB-4F3E-8DBF-E42990DC99B5}" type="pres">
      <dgm:prSet presAssocID="{64ED7293-1E84-4B3B-A211-729C38376400}" presName="sibTrans" presStyleCnt="0"/>
      <dgm:spPr/>
    </dgm:pt>
    <dgm:pt modelId="{4B88BFB7-5FA7-4728-8DD0-6BB8F310B461}" type="pres">
      <dgm:prSet presAssocID="{2796B458-AB56-4108-BCDA-4AD5F90530E7}" presName="compNode" presStyleCnt="0"/>
      <dgm:spPr/>
    </dgm:pt>
    <dgm:pt modelId="{83011E3F-0277-44D4-B19B-2EADCE2E17D0}" type="pres">
      <dgm:prSet presAssocID="{2796B458-AB56-4108-BCDA-4AD5F90530E7}" presName="iconBgRect" presStyleLbl="bgShp" presStyleIdx="1" presStyleCnt="3"/>
      <dgm:spPr/>
    </dgm:pt>
    <dgm:pt modelId="{08824ED4-6237-4149-9A51-E0CEBED83D02}" type="pres">
      <dgm:prSet presAssocID="{2796B458-AB56-4108-BCDA-4AD5F90530E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F10CF15-7720-4F49-B9FD-181A36A938CB}" type="pres">
      <dgm:prSet presAssocID="{2796B458-AB56-4108-BCDA-4AD5F90530E7}" presName="spaceRect" presStyleCnt="0"/>
      <dgm:spPr/>
    </dgm:pt>
    <dgm:pt modelId="{303B6FF8-7818-4C38-8C68-A28261EB02FD}" type="pres">
      <dgm:prSet presAssocID="{2796B458-AB56-4108-BCDA-4AD5F90530E7}" presName="textRect" presStyleLbl="revTx" presStyleIdx="1" presStyleCnt="3">
        <dgm:presLayoutVars>
          <dgm:chMax val="1"/>
          <dgm:chPref val="1"/>
        </dgm:presLayoutVars>
      </dgm:prSet>
      <dgm:spPr/>
    </dgm:pt>
    <dgm:pt modelId="{FEA1530A-00F2-413C-A7E9-02FCA20488D1}" type="pres">
      <dgm:prSet presAssocID="{0B2C64D0-588E-4E1C-8970-CB17A7913A11}" presName="sibTrans" presStyleCnt="0"/>
      <dgm:spPr/>
    </dgm:pt>
    <dgm:pt modelId="{C3A3F09E-A226-4CDD-B864-5265BD9A9DFB}" type="pres">
      <dgm:prSet presAssocID="{A4554E1F-8A75-4217-A49B-5CFA9F3F67CA}" presName="compNode" presStyleCnt="0"/>
      <dgm:spPr/>
    </dgm:pt>
    <dgm:pt modelId="{4B7FD2D7-D25A-4618-8C4E-A7D8849CD5CE}" type="pres">
      <dgm:prSet presAssocID="{A4554E1F-8A75-4217-A49B-5CFA9F3F67CA}" presName="iconBgRect" presStyleLbl="bgShp" presStyleIdx="2" presStyleCnt="3"/>
      <dgm:spPr/>
    </dgm:pt>
    <dgm:pt modelId="{0295E353-F394-483E-8F9E-4DD9C7A35B1F}" type="pres">
      <dgm:prSet presAssocID="{A4554E1F-8A75-4217-A49B-5CFA9F3F67C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7CBA33BD-4700-439E-AD07-339018E97D2C}" type="pres">
      <dgm:prSet presAssocID="{A4554E1F-8A75-4217-A49B-5CFA9F3F67CA}" presName="spaceRect" presStyleCnt="0"/>
      <dgm:spPr/>
    </dgm:pt>
    <dgm:pt modelId="{517177A6-A8E0-4F6C-BE97-CFF9B36B61A2}" type="pres">
      <dgm:prSet presAssocID="{A4554E1F-8A75-4217-A49B-5CFA9F3F67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B8A5209-2505-43F6-A92D-70E3D1F28A51}" srcId="{9A820588-576F-4F23-9231-484AF6F93538}" destId="{A4554E1F-8A75-4217-A49B-5CFA9F3F67CA}" srcOrd="2" destOrd="0" parTransId="{91AC0694-3058-4AF9-A32C-F3DC24D3871E}" sibTransId="{EC07C461-1F0E-4FB2-8067-6088943F21F0}"/>
    <dgm:cxn modelId="{16212A25-40F1-4996-A404-3DB75E6A5AA7}" srcId="{9A820588-576F-4F23-9231-484AF6F93538}" destId="{4B62F949-F4BB-4B0E-9AC5-9EFFB39519B8}" srcOrd="0" destOrd="0" parTransId="{A0CE6CB3-A028-41D8-A4E2-116BD0731F06}" sibTransId="{64ED7293-1E84-4B3B-A211-729C38376400}"/>
    <dgm:cxn modelId="{6DF0D834-66CB-4393-ACE0-51433F397A2A}" srcId="{9A820588-576F-4F23-9231-484AF6F93538}" destId="{2796B458-AB56-4108-BCDA-4AD5F90530E7}" srcOrd="1" destOrd="0" parTransId="{3BAB62AE-6DAB-443E-B353-F2FEE2987C5D}" sibTransId="{0B2C64D0-588E-4E1C-8970-CB17A7913A11}"/>
    <dgm:cxn modelId="{203E209B-6D1D-47AF-9B12-CC635261AFDB}" type="presOf" srcId="{2796B458-AB56-4108-BCDA-4AD5F90530E7}" destId="{303B6FF8-7818-4C38-8C68-A28261EB02FD}" srcOrd="0" destOrd="0" presId="urn:microsoft.com/office/officeart/2018/5/layout/IconCircleLabelList"/>
    <dgm:cxn modelId="{A1B5A5AF-06E5-415F-A1D3-C3F842ABF630}" type="presOf" srcId="{4B62F949-F4BB-4B0E-9AC5-9EFFB39519B8}" destId="{ED755B73-98B7-45A2-9199-701A81680678}" srcOrd="0" destOrd="0" presId="urn:microsoft.com/office/officeart/2018/5/layout/IconCircleLabelList"/>
    <dgm:cxn modelId="{CB83EACA-EB16-4952-AD48-C2A04F6271BC}" type="presOf" srcId="{A4554E1F-8A75-4217-A49B-5CFA9F3F67CA}" destId="{517177A6-A8E0-4F6C-BE97-CFF9B36B61A2}" srcOrd="0" destOrd="0" presId="urn:microsoft.com/office/officeart/2018/5/layout/IconCircleLabelList"/>
    <dgm:cxn modelId="{DB1402EB-0822-40FD-AC04-324300CEFB0A}" type="presOf" srcId="{9A820588-576F-4F23-9231-484AF6F93538}" destId="{19F1840E-0852-43DF-9375-4EBD455082DB}" srcOrd="0" destOrd="0" presId="urn:microsoft.com/office/officeart/2018/5/layout/IconCircleLabelList"/>
    <dgm:cxn modelId="{0C5484B1-7E57-476A-BF76-A514FCEF2575}" type="presParOf" srcId="{19F1840E-0852-43DF-9375-4EBD455082DB}" destId="{F6D99979-7361-4D4A-9C7F-7A6DA00B5B08}" srcOrd="0" destOrd="0" presId="urn:microsoft.com/office/officeart/2018/5/layout/IconCircleLabelList"/>
    <dgm:cxn modelId="{095B4FAE-A068-4635-9E44-AA23311FF223}" type="presParOf" srcId="{F6D99979-7361-4D4A-9C7F-7A6DA00B5B08}" destId="{77644367-4F90-4540-8D64-06C4F14E4BBE}" srcOrd="0" destOrd="0" presId="urn:microsoft.com/office/officeart/2018/5/layout/IconCircleLabelList"/>
    <dgm:cxn modelId="{78F692EF-4A77-4DDB-9833-A3BAD0F23E2E}" type="presParOf" srcId="{F6D99979-7361-4D4A-9C7F-7A6DA00B5B08}" destId="{E058A4E1-18A4-4CE5-B7A3-185D611B2FAC}" srcOrd="1" destOrd="0" presId="urn:microsoft.com/office/officeart/2018/5/layout/IconCircleLabelList"/>
    <dgm:cxn modelId="{0992F057-B72A-44D4-8991-98C4D8E687AB}" type="presParOf" srcId="{F6D99979-7361-4D4A-9C7F-7A6DA00B5B08}" destId="{50721024-B203-4068-9A4A-0112F9BA1B5C}" srcOrd="2" destOrd="0" presId="urn:microsoft.com/office/officeart/2018/5/layout/IconCircleLabelList"/>
    <dgm:cxn modelId="{987E4661-A5CE-4817-B9C3-948DE6957817}" type="presParOf" srcId="{F6D99979-7361-4D4A-9C7F-7A6DA00B5B08}" destId="{ED755B73-98B7-45A2-9199-701A81680678}" srcOrd="3" destOrd="0" presId="urn:microsoft.com/office/officeart/2018/5/layout/IconCircleLabelList"/>
    <dgm:cxn modelId="{3475C0B7-38E6-40E3-9E0D-811ABBD95B33}" type="presParOf" srcId="{19F1840E-0852-43DF-9375-4EBD455082DB}" destId="{2C638612-37FB-4F3E-8DBF-E42990DC99B5}" srcOrd="1" destOrd="0" presId="urn:microsoft.com/office/officeart/2018/5/layout/IconCircleLabelList"/>
    <dgm:cxn modelId="{7A223CC3-B819-47C9-B3D7-11F247346B74}" type="presParOf" srcId="{19F1840E-0852-43DF-9375-4EBD455082DB}" destId="{4B88BFB7-5FA7-4728-8DD0-6BB8F310B461}" srcOrd="2" destOrd="0" presId="urn:microsoft.com/office/officeart/2018/5/layout/IconCircleLabelList"/>
    <dgm:cxn modelId="{F03DFF38-D1E1-46EC-A0DF-D2FCB9E06493}" type="presParOf" srcId="{4B88BFB7-5FA7-4728-8DD0-6BB8F310B461}" destId="{83011E3F-0277-44D4-B19B-2EADCE2E17D0}" srcOrd="0" destOrd="0" presId="urn:microsoft.com/office/officeart/2018/5/layout/IconCircleLabelList"/>
    <dgm:cxn modelId="{A20C302E-2003-4B8A-B68C-7CFE2504C3D3}" type="presParOf" srcId="{4B88BFB7-5FA7-4728-8DD0-6BB8F310B461}" destId="{08824ED4-6237-4149-9A51-E0CEBED83D02}" srcOrd="1" destOrd="0" presId="urn:microsoft.com/office/officeart/2018/5/layout/IconCircleLabelList"/>
    <dgm:cxn modelId="{A362294D-DBFB-46B6-AD24-D8C876DA9176}" type="presParOf" srcId="{4B88BFB7-5FA7-4728-8DD0-6BB8F310B461}" destId="{0F10CF15-7720-4F49-B9FD-181A36A938CB}" srcOrd="2" destOrd="0" presId="urn:microsoft.com/office/officeart/2018/5/layout/IconCircleLabelList"/>
    <dgm:cxn modelId="{D8EBE083-943E-4266-A5D7-4C1B5CF6E720}" type="presParOf" srcId="{4B88BFB7-5FA7-4728-8DD0-6BB8F310B461}" destId="{303B6FF8-7818-4C38-8C68-A28261EB02FD}" srcOrd="3" destOrd="0" presId="urn:microsoft.com/office/officeart/2018/5/layout/IconCircleLabelList"/>
    <dgm:cxn modelId="{F6117C12-A01A-4759-8A15-FFA24C75FC2D}" type="presParOf" srcId="{19F1840E-0852-43DF-9375-4EBD455082DB}" destId="{FEA1530A-00F2-413C-A7E9-02FCA20488D1}" srcOrd="3" destOrd="0" presId="urn:microsoft.com/office/officeart/2018/5/layout/IconCircleLabelList"/>
    <dgm:cxn modelId="{F963E15F-4D2C-4AF5-B05E-AD832378DB1A}" type="presParOf" srcId="{19F1840E-0852-43DF-9375-4EBD455082DB}" destId="{C3A3F09E-A226-4CDD-B864-5265BD9A9DFB}" srcOrd="4" destOrd="0" presId="urn:microsoft.com/office/officeart/2018/5/layout/IconCircleLabelList"/>
    <dgm:cxn modelId="{8CC63B9C-31F3-4DB5-8245-986B9DB8C1BB}" type="presParOf" srcId="{C3A3F09E-A226-4CDD-B864-5265BD9A9DFB}" destId="{4B7FD2D7-D25A-4618-8C4E-A7D8849CD5CE}" srcOrd="0" destOrd="0" presId="urn:microsoft.com/office/officeart/2018/5/layout/IconCircleLabelList"/>
    <dgm:cxn modelId="{2889F11C-E3FA-4EC9-B9B4-8CFF15DCBBA6}" type="presParOf" srcId="{C3A3F09E-A226-4CDD-B864-5265BD9A9DFB}" destId="{0295E353-F394-483E-8F9E-4DD9C7A35B1F}" srcOrd="1" destOrd="0" presId="urn:microsoft.com/office/officeart/2018/5/layout/IconCircleLabelList"/>
    <dgm:cxn modelId="{96343BDD-F866-43BE-BCBB-03A358124485}" type="presParOf" srcId="{C3A3F09E-A226-4CDD-B864-5265BD9A9DFB}" destId="{7CBA33BD-4700-439E-AD07-339018E97D2C}" srcOrd="2" destOrd="0" presId="urn:microsoft.com/office/officeart/2018/5/layout/IconCircleLabelList"/>
    <dgm:cxn modelId="{643FC1D9-AF13-4193-AF6C-1F36EF5FABFB}" type="presParOf" srcId="{C3A3F09E-A226-4CDD-B864-5265BD9A9DFB}" destId="{517177A6-A8E0-4F6C-BE97-CFF9B36B61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44367-4F90-4540-8D64-06C4F14E4BBE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8A4E1-18A4-4CE5-B7A3-185D611B2FAC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55B73-98B7-45A2-9199-701A81680678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Current Events</a:t>
          </a:r>
        </a:p>
      </dsp:txBody>
      <dsp:txXfrm>
        <a:off x="77216" y="2624638"/>
        <a:ext cx="3206250" cy="720000"/>
      </dsp:txXfrm>
    </dsp:sp>
    <dsp:sp modelId="{83011E3F-0277-44D4-B19B-2EADCE2E17D0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24ED4-6237-4149-9A51-E0CEBED83D02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B6FF8-7818-4C38-8C68-A28261EB02FD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Economic Notes</a:t>
          </a:r>
        </a:p>
      </dsp:txBody>
      <dsp:txXfrm>
        <a:off x="3844559" y="2624638"/>
        <a:ext cx="3206250" cy="720000"/>
      </dsp:txXfrm>
    </dsp:sp>
    <dsp:sp modelId="{4B7FD2D7-D25A-4618-8C4E-A7D8849CD5CE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5E353-F394-483E-8F9E-4DD9C7A35B1F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177A6-A8E0-4F6C-BE97-CFF9B36B61A2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Start Writing assignment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294CF-8FA3-42EA-BF24-08873618C5FD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E9C91-E48A-4155-B300-29FABC048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3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E9C91-E48A-4155-B300-29FABC0483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3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E9C91-E48A-4155-B300-29FABC0483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89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1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6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3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5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6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4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6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8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0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1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CFE55-0761-41C9-9EA1-31E1DF1BAF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EA81-5CBC-49BF-91FE-1910B2299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06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005977-2A42-C714-DB68-8E5F0659B76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 Systems and Quality of Life</a:t>
            </a:r>
          </a:p>
        </p:txBody>
      </p:sp>
    </p:spTree>
    <p:extLst>
      <p:ext uri="{BB962C8B-B14F-4D97-AF65-F5344CB8AC3E}">
        <p14:creationId xmlns:p14="http://schemas.microsoft.com/office/powerpoint/2010/main" val="383403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186"/>
            <a:ext cx="5092906" cy="1574808"/>
          </a:xfrm>
        </p:spPr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1675" y="1667769"/>
            <a:ext cx="82391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Want vs. need</a:t>
            </a:r>
          </a:p>
          <a:p>
            <a:endParaRPr lang="en-US" sz="2000" dirty="0"/>
          </a:p>
          <a:p>
            <a:r>
              <a:rPr lang="en-US" sz="2000" dirty="0"/>
              <a:t>Why might something be scarce?</a:t>
            </a:r>
          </a:p>
          <a:p>
            <a:endParaRPr lang="en-US" sz="2000" dirty="0"/>
          </a:p>
          <a:p>
            <a:r>
              <a:rPr lang="en-US" sz="2000" dirty="0"/>
              <a:t>Land – </a:t>
            </a:r>
            <a:r>
              <a:rPr lang="en-US" sz="2000" i="1" dirty="0"/>
              <a:t>ALL </a:t>
            </a:r>
            <a:r>
              <a:rPr lang="en-US" sz="2000" dirty="0"/>
              <a:t>materials</a:t>
            </a:r>
          </a:p>
          <a:p>
            <a:endParaRPr lang="en-US" sz="2000" dirty="0"/>
          </a:p>
          <a:p>
            <a:r>
              <a:rPr lang="en-US" sz="2000" dirty="0" err="1"/>
              <a:t>Labour</a:t>
            </a:r>
            <a:r>
              <a:rPr lang="en-US" sz="2000" dirty="0"/>
              <a:t> – physical and mental effort</a:t>
            </a:r>
          </a:p>
          <a:p>
            <a:endParaRPr lang="en-US" sz="2000" dirty="0"/>
          </a:p>
          <a:p>
            <a:r>
              <a:rPr lang="en-US" sz="2000" dirty="0"/>
              <a:t>Capital – money (and anything worth money)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612564"/>
            <a:ext cx="24384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://www.constructionweekonline.com/pictures/labour_3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114" y="4598552"/>
            <a:ext cx="2371322" cy="16302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950" y="4577875"/>
            <a:ext cx="222885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734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B9FD-F595-93B6-E624-12089D0E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Scarce?</a:t>
            </a:r>
            <a:endParaRPr lang="en-CA" dirty="0"/>
          </a:p>
        </p:txBody>
      </p:sp>
      <p:pic>
        <p:nvPicPr>
          <p:cNvPr id="2050" name="Picture 2" descr="Abundance by Ezra Klein | Goodreads">
            <a:extLst>
              <a:ext uri="{FF2B5EF4-FFF2-40B4-BE49-F238E27FC236}">
                <a16:creationId xmlns:a16="http://schemas.microsoft.com/office/drawing/2014/main" id="{DCB7573F-DD83-F370-9A12-85A3AE83B352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26" b="20052"/>
          <a:stretch/>
        </p:blipFill>
        <p:spPr bwMode="auto">
          <a:xfrm>
            <a:off x="6949546" y="1854192"/>
            <a:ext cx="3200400" cy="302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8B795-0E31-3852-4F8B-9EA965790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And does it have to be?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050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C4A0-B6CB-2130-4922-31E495F1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67A0-A4FC-CB4F-6E15-F144E36F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7" y="685800"/>
            <a:ext cx="5092906" cy="889008"/>
          </a:xfrm>
        </p:spPr>
        <p:txBody>
          <a:bodyPr/>
          <a:lstStyle/>
          <a:p>
            <a:r>
              <a:rPr lang="en-US" dirty="0"/>
              <a:t>Public Ownership</a:t>
            </a:r>
            <a:endParaRPr lang="en-CA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CCCAFD9-673A-5844-26E1-40812F561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307" y="3926171"/>
            <a:ext cx="5932693" cy="1027143"/>
          </a:xfrm>
        </p:spPr>
        <p:txBody>
          <a:bodyPr>
            <a:normAutofit/>
          </a:bodyPr>
          <a:lstStyle/>
          <a:p>
            <a:r>
              <a:rPr lang="en-US" sz="2000" dirty="0"/>
              <a:t>If a business owns something, what are they trying to do with it?</a:t>
            </a:r>
            <a:endParaRPr lang="en-CA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38C5FF-76B6-EFA5-65D6-29037C3B60A3}"/>
              </a:ext>
            </a:extLst>
          </p:cNvPr>
          <p:cNvSpPr txBox="1">
            <a:spLocks/>
          </p:cNvSpPr>
          <p:nvPr/>
        </p:nvSpPr>
        <p:spPr>
          <a:xfrm>
            <a:off x="1148331" y="3024153"/>
            <a:ext cx="5092906" cy="889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Private Ownership</a:t>
            </a:r>
            <a:endParaRPr lang="en-CA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8DA2D8-6295-20D3-5CB7-3B654A5BAA4E}"/>
              </a:ext>
            </a:extLst>
          </p:cNvPr>
          <p:cNvSpPr txBox="1">
            <a:spLocks/>
          </p:cNvSpPr>
          <p:nvPr/>
        </p:nvSpPr>
        <p:spPr>
          <a:xfrm>
            <a:off x="1306307" y="1716057"/>
            <a:ext cx="5932693" cy="1027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000"/>
              <a:t>If the government owns something, what are they trying to do with it?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65892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71600" y="228600"/>
            <a:ext cx="8610600" cy="5867400"/>
          </a:xfrm>
        </p:spPr>
        <p:txBody>
          <a:bodyPr/>
          <a:lstStyle/>
          <a:p>
            <a:r>
              <a:rPr lang="en-US" dirty="0"/>
              <a:t>For each of the following, answer whether you think it should be publicly or privately owned.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Gold</a:t>
            </a:r>
          </a:p>
          <a:p>
            <a:r>
              <a:rPr lang="en-US" dirty="0"/>
              <a:t>Oil &amp; Gas </a:t>
            </a:r>
          </a:p>
          <a:p>
            <a:r>
              <a:rPr lang="en-US" dirty="0"/>
              <a:t>Agriculture</a:t>
            </a:r>
          </a:p>
          <a:p>
            <a:r>
              <a:rPr lang="en-US" dirty="0"/>
              <a:t>Water</a:t>
            </a:r>
          </a:p>
          <a:p>
            <a:r>
              <a:rPr lang="en-US" dirty="0"/>
              <a:t>Forest Parks</a:t>
            </a:r>
          </a:p>
          <a:p>
            <a:r>
              <a:rPr lang="en-US" dirty="0"/>
              <a:t>Schools</a:t>
            </a:r>
          </a:p>
          <a:p>
            <a:r>
              <a:rPr lang="en-US" dirty="0"/>
              <a:t>Health Care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Private vs Public Company - Key Differences, Value">
            <a:extLst>
              <a:ext uri="{FF2B5EF4-FFF2-40B4-BE49-F238E27FC236}">
                <a16:creationId xmlns:a16="http://schemas.microsoft.com/office/drawing/2014/main" id="{AF53133F-8191-1B95-9912-048A7E26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857375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40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Economic Systems – How do you solve scarcity?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324611"/>
            <a:ext cx="4396338" cy="576262"/>
          </a:xfrm>
        </p:spPr>
        <p:txBody>
          <a:bodyPr/>
          <a:lstStyle/>
          <a:p>
            <a:r>
              <a:rPr lang="en-US" dirty="0"/>
              <a:t>Planned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51603" y="1873568"/>
            <a:ext cx="4396339" cy="3741738"/>
          </a:xfrm>
        </p:spPr>
        <p:txBody>
          <a:bodyPr/>
          <a:lstStyle/>
          <a:p>
            <a:r>
              <a:rPr lang="en-US" dirty="0"/>
              <a:t>Government makes all of the decisions</a:t>
            </a:r>
          </a:p>
          <a:p>
            <a:r>
              <a:rPr lang="en-US" dirty="0"/>
              <a:t>Gov’t owns and manages resources</a:t>
            </a:r>
          </a:p>
          <a:p>
            <a:r>
              <a:rPr lang="en-US" dirty="0"/>
              <a:t>Publicly owned</a:t>
            </a:r>
          </a:p>
          <a:p>
            <a:r>
              <a:rPr lang="en-US" dirty="0"/>
              <a:t>Individual consumers have little influence on economic decision making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5639255" y="1345884"/>
            <a:ext cx="4396339" cy="576262"/>
          </a:xfrm>
        </p:spPr>
        <p:txBody>
          <a:bodyPr/>
          <a:lstStyle/>
          <a:p>
            <a:r>
              <a:rPr lang="en-US" dirty="0"/>
              <a:t>Market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99651" y="1851343"/>
            <a:ext cx="4396339" cy="3741738"/>
          </a:xfrm>
        </p:spPr>
        <p:txBody>
          <a:bodyPr/>
          <a:lstStyle/>
          <a:p>
            <a:r>
              <a:rPr lang="en-US" dirty="0"/>
              <a:t>Private business makes decisions</a:t>
            </a:r>
          </a:p>
          <a:p>
            <a:r>
              <a:rPr lang="en-US" dirty="0"/>
              <a:t>Individuals make decisions on how to use resources</a:t>
            </a:r>
          </a:p>
          <a:p>
            <a:r>
              <a:rPr lang="en-US" dirty="0"/>
              <a:t>Privately owned</a:t>
            </a:r>
          </a:p>
          <a:p>
            <a:r>
              <a:rPr lang="en-US" dirty="0"/>
              <a:t>Individual consumers drive economic decision making by choosing what to buy</a:t>
            </a:r>
          </a:p>
        </p:txBody>
      </p:sp>
      <p:pic>
        <p:nvPicPr>
          <p:cNvPr id="2050" name="Picture 2" descr="http://images2.wikia.nocookie.net/__cb20100116170320/companyofheroes/en/images/7/7a/USSR_Fla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03" y="4632272"/>
            <a:ext cx="2624349" cy="1966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flag-metomorphoses.net/wp-content/uploads/2011/03/USA-fla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715555"/>
            <a:ext cx="2621422" cy="1966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Canada?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“mixed” economy</a:t>
            </a:r>
          </a:p>
          <a:p>
            <a:r>
              <a:rPr lang="en-US" dirty="0"/>
              <a:t>Some resources are publicly owned and some are private</a:t>
            </a:r>
          </a:p>
          <a:p>
            <a:r>
              <a:rPr lang="en-US" dirty="0"/>
              <a:t>Individuals and government both make decisions about what to produce</a:t>
            </a:r>
          </a:p>
          <a:p>
            <a:r>
              <a:rPr lang="en-US" dirty="0"/>
              <a:t>Individual consumers and government influence economic decision making</a:t>
            </a:r>
          </a:p>
          <a:p>
            <a:r>
              <a:rPr lang="en-US" dirty="0"/>
              <a:t>This “mix” can change depending on the party in power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87859"/>
            <a:ext cx="11938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572" y="4724400"/>
            <a:ext cx="2060992" cy="213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213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557" y="250470"/>
            <a:ext cx="10745843" cy="1400530"/>
          </a:xfrm>
        </p:spPr>
        <p:txBody>
          <a:bodyPr/>
          <a:lstStyle/>
          <a:p>
            <a:r>
              <a:rPr lang="en-US" dirty="0"/>
              <a:t>To prepare you for Grade 12 and LIFE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24000" y="3454400"/>
            <a:ext cx="8229600" cy="914400"/>
          </a:xfrm>
          <a:prstGeom prst="rect">
            <a:avLst/>
          </a:prstGeom>
        </p:spPr>
        <p:txBody>
          <a:bodyPr vert="horz" anchor="b" anchorCtr="0">
            <a:normAutofit fontScale="92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Is it better for the public good to work together or for each person to work as individuals?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800601" y="6019800"/>
            <a:ext cx="7391399" cy="415704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>
                <a:solidFill>
                  <a:schemeClr val="tx1"/>
                </a:solidFill>
              </a:rPr>
              <a:t>Public Good: </a:t>
            </a:r>
            <a:r>
              <a:rPr lang="en-CA" sz="2400" b="1" dirty="0">
                <a:solidFill>
                  <a:schemeClr val="tx1"/>
                </a:solidFill>
                <a:latin typeface="arial" panose="020B0604020202020204" pitchFamily="34" charset="0"/>
              </a:rPr>
              <a:t>the benefit or well-being of the public.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6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2FE9-253C-4BFB-DBCC-D0D4DCB3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SOC 9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2B0A1-C78F-6BAF-8F95-5B0A6C344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01349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40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C6E2B6F9-A59A-74BD-2BDF-53C6D511B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50"/>
          <a:stretch>
            <a:fillRect/>
          </a:stretch>
        </p:blipFill>
        <p:spPr>
          <a:xfrm>
            <a:off x="635458" y="640080"/>
            <a:ext cx="9186063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455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 a crash, should self-driving cars save passengers or pedestrians? 2  million people weigh in | PBS News">
            <a:extLst>
              <a:ext uri="{FF2B5EF4-FFF2-40B4-BE49-F238E27FC236}">
                <a16:creationId xmlns:a16="http://schemas.microsoft.com/office/drawing/2014/main" id="{C668D784-836F-4A8C-7BA7-BE7A045F3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42" r="-1" b="11268"/>
          <a:stretch>
            <a:fillRect/>
          </a:stretch>
        </p:blipFill>
        <p:spPr bwMode="auto"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85A750-BBE9-D6CE-B7B6-A4497798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Market Economy vs. Planned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B7ADDAC-422B-3A6A-99BF-D507B68F4DF5}"/>
              </a:ext>
            </a:extLst>
          </p:cNvPr>
          <p:cNvSpPr txBox="1">
            <a:spLocks/>
          </p:cNvSpPr>
          <p:nvPr/>
        </p:nvSpPr>
        <p:spPr>
          <a:xfrm>
            <a:off x="636917" y="5722374"/>
            <a:ext cx="10407602" cy="4879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cap="all">
                <a:solidFill>
                  <a:schemeClr val="tx2">
                    <a:lumMod val="40000"/>
                    <a:lumOff val="60000"/>
                  </a:schemeClr>
                </a:solidFill>
              </a:rPr>
              <a:t>Self Driving Cars</a:t>
            </a:r>
          </a:p>
        </p:txBody>
      </p:sp>
    </p:spTree>
    <p:extLst>
      <p:ext uri="{BB962C8B-B14F-4D97-AF65-F5344CB8AC3E}">
        <p14:creationId xmlns:p14="http://schemas.microsoft.com/office/powerpoint/2010/main" val="167880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E15E-0A55-FA06-A08D-A37CFAB2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DE4D-92FC-2441-3A6E-77746CBB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4F492C2-62FC-6C8F-CB84-C93DC7C54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84150"/>
            <a:ext cx="11150600" cy="648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06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75921"/>
            <a:ext cx="3401064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This time ask yourself: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72200" y="1524000"/>
            <a:ext cx="4587984" cy="4572000"/>
          </a:xfrm>
        </p:spPr>
        <p:txBody>
          <a:bodyPr/>
          <a:lstStyle/>
          <a:p>
            <a:r>
              <a:rPr lang="en-US" dirty="0"/>
              <a:t>So.... Solve: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Better smartphones</a:t>
            </a:r>
          </a:p>
          <a:p>
            <a:r>
              <a:rPr lang="en-US" dirty="0"/>
              <a:t>Better education</a:t>
            </a:r>
          </a:p>
          <a:p>
            <a:r>
              <a:rPr lang="en-US" dirty="0"/>
              <a:t>Cancer</a:t>
            </a:r>
          </a:p>
          <a:p>
            <a:r>
              <a:rPr lang="en-US" dirty="0"/>
              <a:t>Climate Change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57200" y="1524000"/>
            <a:ext cx="4191000" cy="4572000"/>
          </a:xfrm>
        </p:spPr>
        <p:txBody>
          <a:bodyPr>
            <a:normAutofit/>
          </a:bodyPr>
          <a:lstStyle/>
          <a:p>
            <a:pPr algn="ctr"/>
            <a:r>
              <a:rPr lang="en-US" sz="2400" i="1" dirty="0"/>
              <a:t>Is it better for the public good to work together or for each person to work as individuals?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would it look like to “work together”? Who pays? Who is rewarded?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would it look like to have individuals working alone? Who pays? Who is rewarded?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What’s best for the public?</a:t>
            </a:r>
          </a:p>
        </p:txBody>
      </p:sp>
    </p:spTree>
    <p:extLst>
      <p:ext uri="{BB962C8B-B14F-4D97-AF65-F5344CB8AC3E}">
        <p14:creationId xmlns:p14="http://schemas.microsoft.com/office/powerpoint/2010/main" val="377452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" y="152400"/>
            <a:ext cx="12039600" cy="67468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Canada’s Economy – Peace, Order &amp; Good Government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457200" y="862983"/>
            <a:ext cx="6858000" cy="1600200"/>
          </a:xfrm>
        </p:spPr>
        <p:txBody>
          <a:bodyPr>
            <a:noAutofit/>
          </a:bodyPr>
          <a:lstStyle/>
          <a:p>
            <a:r>
              <a:rPr lang="en-US" sz="2400" dirty="0"/>
              <a:t>Founding principle of Canada reflects the idea of cooperation, connected to Francophone/Anglophone beginnings</a:t>
            </a:r>
          </a:p>
          <a:p>
            <a:endParaRPr lang="en-US" sz="2400" dirty="0"/>
          </a:p>
          <a:p>
            <a:r>
              <a:rPr lang="en-US" sz="2400" dirty="0"/>
              <a:t>Cooperation is important for the Canadian economy but competition plays a role as well. This is why we have a mixed economy.</a:t>
            </a:r>
          </a:p>
          <a:p>
            <a:endParaRPr lang="en-US" sz="2400" dirty="0"/>
          </a:p>
          <a:p>
            <a:r>
              <a:rPr lang="en-US" sz="2400" dirty="0"/>
              <a:t>However, our place on the continuum moves around depending on who is in power at the moment.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2261"/>
            <a:ext cx="663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 a continuum in your own notes!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99" y="4114800"/>
            <a:ext cx="5816601" cy="249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onald Trump - Wikipedia">
            <a:extLst>
              <a:ext uri="{FF2B5EF4-FFF2-40B4-BE49-F238E27FC236}">
                <a16:creationId xmlns:a16="http://schemas.microsoft.com/office/drawing/2014/main" id="{005118F5-D04E-7B5C-9D0C-B2424A896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4175225"/>
            <a:ext cx="609600" cy="78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servative Party of Canada">
            <a:extLst>
              <a:ext uri="{FF2B5EF4-FFF2-40B4-BE49-F238E27FC236}">
                <a16:creationId xmlns:a16="http://schemas.microsoft.com/office/drawing/2014/main" id="{F42E662D-A3E6-D840-CAC3-1E3993A97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906" y="5206909"/>
            <a:ext cx="529694" cy="44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7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500856"/>
            <a:ext cx="73152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Canada’s Economy – Peace, Order &amp; Good Government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063" y="1710438"/>
            <a:ext cx="18573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15576" y="3310638"/>
            <a:ext cx="107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21" y="3310638"/>
            <a:ext cx="13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Shift </a:t>
            </a:r>
            <a:r>
              <a:rPr lang="en-US" dirty="0">
                <a:solidFill>
                  <a:srgbClr val="0070C0"/>
                </a:solidFill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075" y="1341106"/>
            <a:ext cx="318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1963 – 1968 Liberal Party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9069" y="1242876"/>
            <a:ext cx="4190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1984 – 1993 Progressive Conservative Party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140" y="1796845"/>
            <a:ext cx="2257425" cy="14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969008" y="3926070"/>
            <a:ext cx="35614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Lester B. Pearson formed a minority government and cooperated with the NDP</a:t>
            </a:r>
          </a:p>
          <a:p>
            <a:endParaRPr lang="en-US" dirty="0"/>
          </a:p>
          <a:p>
            <a:r>
              <a:rPr lang="en-US" dirty="0"/>
              <a:t>Larger role in the economy,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Publicly funded health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Pensions for senior citizens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8643" y="3602091"/>
            <a:ext cx="35614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Brian Mulroney forms a majority government. Reduces involvement in the economy, including: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Cuts to government 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Privatizing government-owned corps (more on that later).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Signed NAFTA (North American Free Trade Agreement)</a:t>
            </a:r>
          </a:p>
        </p:txBody>
      </p:sp>
    </p:spTree>
    <p:extLst>
      <p:ext uri="{BB962C8B-B14F-4D97-AF65-F5344CB8AC3E}">
        <p14:creationId xmlns:p14="http://schemas.microsoft.com/office/powerpoint/2010/main" val="13382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5092906" cy="1574808"/>
          </a:xfrm>
        </p:spPr>
        <p:txBody>
          <a:bodyPr>
            <a:normAutofit/>
          </a:bodyPr>
          <a:lstStyle/>
          <a:p>
            <a:r>
              <a:rPr lang="en-US" dirty="0"/>
              <a:t>The U.S. Economy – Life, Liberty and the Pursuit of Happiness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17725" y="1981200"/>
            <a:ext cx="8229600" cy="2133600"/>
          </a:xfrm>
        </p:spPr>
        <p:txBody>
          <a:bodyPr>
            <a:normAutofit/>
          </a:bodyPr>
          <a:lstStyle/>
          <a:p>
            <a:r>
              <a:rPr lang="en-US" sz="2000" dirty="0"/>
              <a:t>Founding principle reflects the idea individualism. </a:t>
            </a:r>
          </a:p>
          <a:p>
            <a:r>
              <a:rPr lang="en-US" sz="2000" dirty="0"/>
              <a:t>Influences the economic system of the U.S. where individuals have more power and the government has little involvement (Market economy)</a:t>
            </a:r>
          </a:p>
          <a:p>
            <a:r>
              <a:rPr lang="en-US" sz="2000" dirty="0"/>
              <a:t>The position on the economic continuum shifts right and left depending on who is in power.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5DFC0-4BAB-7C69-CE50-B0D48987A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02327"/>
            <a:ext cx="5016706" cy="250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1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81200" y="500856"/>
            <a:ext cx="84582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United States’ Economy – Life, Liberty and the Pursuit of Happiness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5576" y="3310638"/>
            <a:ext cx="142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 </a:t>
            </a:r>
            <a:r>
              <a:rPr lang="en-US" dirty="0">
                <a:solidFill>
                  <a:srgbClr val="0070C0"/>
                </a:solidFill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21" y="3310638"/>
            <a:ext cx="13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Shift </a:t>
            </a:r>
            <a:r>
              <a:rPr lang="en-US" dirty="0">
                <a:solidFill>
                  <a:srgbClr val="C00000"/>
                </a:solidFill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1" y="12954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1933 – 1944 Democratic Party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1" y="1371600"/>
            <a:ext cx="4190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1980 – 1988 Republican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7376" y="3808803"/>
            <a:ext cx="35614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Franklin Roosevelt had to respond to the Great Depression, did so with the “New Deal”</a:t>
            </a:r>
          </a:p>
          <a:p>
            <a:r>
              <a:rPr lang="en-US" dirty="0"/>
              <a:t>Larger role in the economy,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Funds to support farmers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Pensions for senior citizens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Corporations run by gov’t, public works projects (roads, dams)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139" y="3808803"/>
            <a:ext cx="35614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Ronald Reagan wanted less involvement in the economy: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government spending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government regulations on corporations (for example, environmental standards).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52600"/>
            <a:ext cx="1524000" cy="1524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1" y="1761322"/>
            <a:ext cx="2042977" cy="15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7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and Demand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1752600"/>
          </a:xfrm>
        </p:spPr>
        <p:txBody>
          <a:bodyPr>
            <a:normAutofit/>
          </a:bodyPr>
          <a:lstStyle/>
          <a:p>
            <a:r>
              <a:rPr lang="en-US" dirty="0"/>
              <a:t>Time to explain how the world works.</a:t>
            </a:r>
          </a:p>
        </p:txBody>
      </p:sp>
    </p:spTree>
    <p:extLst>
      <p:ext uri="{BB962C8B-B14F-4D97-AF65-F5344CB8AC3E}">
        <p14:creationId xmlns:p14="http://schemas.microsoft.com/office/powerpoint/2010/main" val="2991995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20590-6820-C058-ADA7-83C0E8D3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13152F0-5282-F695-6898-8217F4BBB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06922D1-E535-8314-438A-37AA8944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tx1"/>
                </a:solidFill>
              </a:rPr>
              <a:t>Consumerism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1FD1E-D8EB-134F-7370-0599B1AD0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/>
              <a:t>Is it good to buy? How much is too much?</a:t>
            </a:r>
          </a:p>
        </p:txBody>
      </p:sp>
    </p:spTree>
    <p:extLst>
      <p:ext uri="{BB962C8B-B14F-4D97-AF65-F5344CB8AC3E}">
        <p14:creationId xmlns:p14="http://schemas.microsoft.com/office/powerpoint/2010/main" val="290151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6181F3-9B58-494A-BB67-6AC0FB6706C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0574756">
            <a:off x="8598535" y="7357745"/>
            <a:ext cx="130175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08F66DEE-917C-6945-92E7-CF9BDD6F7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1062729"/>
            <a:ext cx="75501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Bandwagon Effect</a:t>
            </a:r>
            <a:endParaRPr lang="en-US" altLang="en-US" sz="12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Encourages you to buy a product or service because everyone else is.</a:t>
            </a:r>
            <a:endParaRPr lang="en-US" altLang="en-US" sz="1200" dirty="0"/>
          </a:p>
          <a:p>
            <a:pPr defTabSz="914400"/>
            <a:endParaRPr lang="en-US" altLang="en-US" sz="3200" dirty="0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63A070C4-D720-8246-ACAA-6339DADC2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1903452"/>
            <a:ext cx="81160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Emotional Appeal </a:t>
            </a:r>
            <a:endParaRPr lang="en-US" altLang="en-US" sz="12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Uses strong emotional language that connects with your fears and desires.</a:t>
            </a:r>
            <a:endParaRPr lang="en-US" altLang="en-US" sz="1200" dirty="0"/>
          </a:p>
          <a:p>
            <a:pPr defTabSz="914400"/>
            <a:endParaRPr lang="en-US" altLang="en-US" sz="3200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D63D4B8-2BA0-C04F-B17C-65D30617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2688282"/>
            <a:ext cx="25260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Glittering Generalities</a:t>
            </a:r>
            <a:endParaRPr lang="en-US" altLang="en-US" sz="1200" b="1" dirty="0"/>
          </a:p>
          <a:p>
            <a:pPr defTabSz="914400"/>
            <a:endParaRPr lang="en-US" altLang="en-US" sz="2800" dirty="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B3D47E51-2DC3-444A-905E-0086B2DF0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650" y="2930963"/>
            <a:ext cx="825935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Relates the product or service to words or images that promise everything, but deliver little or nothing.</a:t>
            </a:r>
          </a:p>
          <a:p>
            <a:pPr defTabSz="914400"/>
            <a:endParaRPr lang="en-US" altLang="en-US" sz="2000" dirty="0"/>
          </a:p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Plain Folks Appeal </a:t>
            </a:r>
            <a:endParaRPr lang="en-US" altLang="en-US" sz="20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Relates a product or service to the experience of ordinary folks.</a:t>
            </a:r>
          </a:p>
          <a:p>
            <a:pPr defTabSz="914400"/>
            <a:endParaRPr lang="en-US" altLang="en-US" sz="2000" dirty="0"/>
          </a:p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Testimonials</a:t>
            </a:r>
            <a:endParaRPr lang="en-US" altLang="en-US" sz="2000" dirty="0"/>
          </a:p>
          <a:p>
            <a:pPr defTabSz="914400"/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Uses celebrities or experts to speak for a product. </a:t>
            </a:r>
            <a:endParaRPr lang="en-US" altLang="en-US" sz="2000" dirty="0"/>
          </a:p>
          <a:p>
            <a:pPr defTabSz="914400"/>
            <a:r>
              <a:rPr lang="en-US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StoneSans-Semibold"/>
              </a:rPr>
              <a:t>Scientific Appeal</a:t>
            </a:r>
            <a:endParaRPr lang="en-US" altLang="en-US" sz="2000" dirty="0"/>
          </a:p>
          <a:p>
            <a:pPr defTabSz="914400"/>
            <a:endParaRPr lang="en-US" altLang="en-US" sz="2000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B28B6DF-50EB-6846-A223-B4FC2CEDD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878" y="5715133"/>
            <a:ext cx="66469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StoneSans"/>
              </a:rPr>
              <a:t>• Uses statistics or scientific data to persuade consumers to buy a product or service.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D996AEF-ACFE-CA4D-AC10-D9D3A22D8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1" y="1339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B205C2-0144-BB4A-BD3D-71E9E1E179F9}"/>
              </a:ext>
            </a:extLst>
          </p:cNvPr>
          <p:cNvSpPr txBox="1"/>
          <p:nvPr/>
        </p:nvSpPr>
        <p:spPr>
          <a:xfrm>
            <a:off x="3486081" y="234372"/>
            <a:ext cx="4685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ADVERTISING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18587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3D11-512A-D1B8-70E1-7D1EE6BC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AEE700-3AE8-5178-3592-85314050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37882"/>
          </a:xfrm>
        </p:spPr>
        <p:txBody>
          <a:bodyPr>
            <a:normAutofit fontScale="90000"/>
          </a:bodyPr>
          <a:lstStyle/>
          <a:p>
            <a:r>
              <a:rPr lang="en-US" dirty="0"/>
              <a:t>Advertising ”Rubric”</a:t>
            </a:r>
          </a:p>
        </p:txBody>
      </p:sp>
    </p:spTree>
    <p:extLst>
      <p:ext uri="{BB962C8B-B14F-4D97-AF65-F5344CB8AC3E}">
        <p14:creationId xmlns:p14="http://schemas.microsoft.com/office/powerpoint/2010/main" val="287216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fc9a9c-b78d-41b0-9263-43f02b62291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E454322B6DF4ABFA40C52876B033B" ma:contentTypeVersion="16" ma:contentTypeDescription="Create a new document." ma:contentTypeScope="" ma:versionID="ea8552810329c8eed2110a49834502a9">
  <xsd:schema xmlns:xsd="http://www.w3.org/2001/XMLSchema" xmlns:xs="http://www.w3.org/2001/XMLSchema" xmlns:p="http://schemas.microsoft.com/office/2006/metadata/properties" xmlns:ns3="e0fc9a9c-b78d-41b0-9263-43f02b622910" xmlns:ns4="9eca0464-ad41-4510-984a-f3f9b22e555b" targetNamespace="http://schemas.microsoft.com/office/2006/metadata/properties" ma:root="true" ma:fieldsID="43d4bc8d59393518f00c5fa702150999" ns3:_="" ns4:_="">
    <xsd:import namespace="e0fc9a9c-b78d-41b0-9263-43f02b622910"/>
    <xsd:import namespace="9eca0464-ad41-4510-984a-f3f9b22e55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c9a9c-b78d-41b0-9263-43f02b622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a0464-ad41-4510-984a-f3f9b22e555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8873A8-A2E2-4882-8164-674506A4027D}">
  <ds:schemaRefs>
    <ds:schemaRef ds:uri="http://purl.org/dc/terms/"/>
    <ds:schemaRef ds:uri="9eca0464-ad41-4510-984a-f3f9b22e555b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0fc9a9c-b78d-41b0-9263-43f02b622910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155FD03-98C5-4775-A67C-A4D57FF19C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95C0C5-687A-4E2C-AA43-FC5095517E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fc9a9c-b78d-41b0-9263-43f02b622910"/>
    <ds:schemaRef ds:uri="9eca0464-ad41-4510-984a-f3f9b22e55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42220</TotalTime>
  <Words>806</Words>
  <Application>Microsoft Macintosh PowerPoint</Application>
  <PresentationFormat>Widescreen</PresentationFormat>
  <Paragraphs>128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</vt:lpstr>
      <vt:lpstr>Calibri</vt:lpstr>
      <vt:lpstr>Calibri Light</vt:lpstr>
      <vt:lpstr>Office 2013 - 2022 Theme</vt:lpstr>
      <vt:lpstr>Economic Systems and Quality of Life</vt:lpstr>
      <vt:lpstr>Scarcity</vt:lpstr>
      <vt:lpstr>What is Scarce?</vt:lpstr>
      <vt:lpstr>Public Ownership</vt:lpstr>
      <vt:lpstr>PowerPoint Presentation</vt:lpstr>
      <vt:lpstr>Economic Systems – How do you solve scarcity?</vt:lpstr>
      <vt:lpstr>What about Canada?</vt:lpstr>
      <vt:lpstr>To prepare you for Grade 12 and LIFE</vt:lpstr>
      <vt:lpstr>SOC 9</vt:lpstr>
      <vt:lpstr>PowerPoint Presentation</vt:lpstr>
      <vt:lpstr>Market Economy vs. Planned</vt:lpstr>
      <vt:lpstr>PowerPoint Presentation</vt:lpstr>
      <vt:lpstr>This time ask yourself:</vt:lpstr>
      <vt:lpstr>Canada’s Economy – Peace, Order &amp; Good Government</vt:lpstr>
      <vt:lpstr>Canada’s Economy – Peace, Order &amp; Good Government</vt:lpstr>
      <vt:lpstr>The U.S. Economy – Life, Liberty and the Pursuit of Happiness</vt:lpstr>
      <vt:lpstr>United States’ Economy – Life, Liberty and the Pursuit of Happiness</vt:lpstr>
      <vt:lpstr>Supply and Demand</vt:lpstr>
      <vt:lpstr>Consumerism</vt:lpstr>
      <vt:lpstr>PowerPoint Presentation</vt:lpstr>
      <vt:lpstr>Advertising ”Rubric”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Systems and Quality of Life</dc:title>
  <dc:creator>Adam McRae</dc:creator>
  <cp:lastModifiedBy>Adam Mcrae</cp:lastModifiedBy>
  <cp:revision>38</cp:revision>
  <dcterms:created xsi:type="dcterms:W3CDTF">2013-12-05T22:53:16Z</dcterms:created>
  <dcterms:modified xsi:type="dcterms:W3CDTF">2026-05-06T14:21:30Z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0x010100541E454322B6DF4ABFA40C52876B033B</vt:lpwstr>
  </property>
</Properties>
</file>