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2" r:id="rId15"/>
    <p:sldId id="270" r:id="rId16"/>
    <p:sldId id="272" r:id="rId17"/>
    <p:sldId id="275" r:id="rId18"/>
    <p:sldId id="271" r:id="rId19"/>
    <p:sldId id="27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03"/>
    <p:restoredTop sz="94619"/>
  </p:normalViewPr>
  <p:slideViewPr>
    <p:cSldViewPr snapToGrid="0">
      <p:cViewPr varScale="1">
        <p:scale>
          <a:sx n="109" d="100"/>
          <a:sy n="109" d="100"/>
        </p:scale>
        <p:origin x="47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D1A1A9-9847-4F56-BAA4-2ACB1F3F775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456C87-4E86-48C3-95A3-F65F04AF3BC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Canada’s interest payments on the war debt were $164million per year, soldiers' pensions another $76million per year </a:t>
          </a:r>
        </a:p>
      </dgm:t>
    </dgm:pt>
    <dgm:pt modelId="{5CBE6827-D5BE-45BA-9ED6-886210B11D2F}" type="parTrans" cxnId="{3E5702BE-02B4-444C-B686-5C22A240FAA4}">
      <dgm:prSet/>
      <dgm:spPr/>
      <dgm:t>
        <a:bodyPr/>
        <a:lstStyle/>
        <a:p>
          <a:endParaRPr lang="en-US"/>
        </a:p>
      </dgm:t>
    </dgm:pt>
    <dgm:pt modelId="{5C2CF707-064E-4914-8CB9-0C293C797EBC}" type="sibTrans" cxnId="{3E5702BE-02B4-444C-B686-5C22A240FAA4}">
      <dgm:prSet/>
      <dgm:spPr/>
      <dgm:t>
        <a:bodyPr/>
        <a:lstStyle/>
        <a:p>
          <a:endParaRPr lang="en-US"/>
        </a:p>
      </dgm:t>
    </dgm:pt>
    <dgm:pt modelId="{ECD25C9B-4244-46A1-8DA4-1F628C44494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Income tax became a permanent feature of Canadian life</a:t>
          </a:r>
        </a:p>
      </dgm:t>
    </dgm:pt>
    <dgm:pt modelId="{357C57BA-A2C9-47D8-9ECE-B7F6EF05B4A2}" type="parTrans" cxnId="{D3071077-38C1-4CEB-8846-5692017281E1}">
      <dgm:prSet/>
      <dgm:spPr/>
      <dgm:t>
        <a:bodyPr/>
        <a:lstStyle/>
        <a:p>
          <a:endParaRPr lang="en-US"/>
        </a:p>
      </dgm:t>
    </dgm:pt>
    <dgm:pt modelId="{79D40F45-8360-4482-A981-9BDEECD3C92D}" type="sibTrans" cxnId="{D3071077-38C1-4CEB-8846-5692017281E1}">
      <dgm:prSet/>
      <dgm:spPr/>
      <dgm:t>
        <a:bodyPr/>
        <a:lstStyle/>
        <a:p>
          <a:endParaRPr lang="en-US"/>
        </a:p>
      </dgm:t>
    </dgm:pt>
    <dgm:pt modelId="{2D408A49-9E50-4543-AA46-BA601213C75C}" type="pres">
      <dgm:prSet presAssocID="{E5D1A1A9-9847-4F56-BAA4-2ACB1F3F775F}" presName="root" presStyleCnt="0">
        <dgm:presLayoutVars>
          <dgm:dir/>
          <dgm:resizeHandles val="exact"/>
        </dgm:presLayoutVars>
      </dgm:prSet>
      <dgm:spPr/>
    </dgm:pt>
    <dgm:pt modelId="{972A7574-8C99-42F8-A6FB-2EE47E95801B}" type="pres">
      <dgm:prSet presAssocID="{85456C87-4E86-48C3-95A3-F65F04AF3BCE}" presName="compNode" presStyleCnt="0"/>
      <dgm:spPr/>
    </dgm:pt>
    <dgm:pt modelId="{68DE9B69-7894-4D26-8B90-7CADB78D7A6B}" type="pres">
      <dgm:prSet presAssocID="{85456C87-4E86-48C3-95A3-F65F04AF3BCE}" presName="bgRect" presStyleLbl="bgShp" presStyleIdx="0" presStyleCnt="2"/>
      <dgm:spPr/>
    </dgm:pt>
    <dgm:pt modelId="{83DAD211-C3A9-4620-8289-6BFD6A589E28}" type="pres">
      <dgm:prSet presAssocID="{85456C87-4E86-48C3-95A3-F65F04AF3BCE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llar"/>
        </a:ext>
      </dgm:extLst>
    </dgm:pt>
    <dgm:pt modelId="{EADB893C-4D90-4830-9132-A1977E65736C}" type="pres">
      <dgm:prSet presAssocID="{85456C87-4E86-48C3-95A3-F65F04AF3BCE}" presName="spaceRect" presStyleCnt="0"/>
      <dgm:spPr/>
    </dgm:pt>
    <dgm:pt modelId="{91830E6A-53DC-4169-BB81-079897017D56}" type="pres">
      <dgm:prSet presAssocID="{85456C87-4E86-48C3-95A3-F65F04AF3BCE}" presName="parTx" presStyleLbl="revTx" presStyleIdx="0" presStyleCnt="2">
        <dgm:presLayoutVars>
          <dgm:chMax val="0"/>
          <dgm:chPref val="0"/>
        </dgm:presLayoutVars>
      </dgm:prSet>
      <dgm:spPr/>
    </dgm:pt>
    <dgm:pt modelId="{7EAE3E5E-1BA8-47A2-A0E3-4B580F59B289}" type="pres">
      <dgm:prSet presAssocID="{5C2CF707-064E-4914-8CB9-0C293C797EBC}" presName="sibTrans" presStyleCnt="0"/>
      <dgm:spPr/>
    </dgm:pt>
    <dgm:pt modelId="{216C143D-BC25-4CEF-8AC8-A112E0551319}" type="pres">
      <dgm:prSet presAssocID="{ECD25C9B-4244-46A1-8DA4-1F628C44494B}" presName="compNode" presStyleCnt="0"/>
      <dgm:spPr/>
    </dgm:pt>
    <dgm:pt modelId="{07D8805B-ED39-475B-A3F5-8DAE5FE841BE}" type="pres">
      <dgm:prSet presAssocID="{ECD25C9B-4244-46A1-8DA4-1F628C44494B}" presName="bgRect" presStyleLbl="bgShp" presStyleIdx="1" presStyleCnt="2"/>
      <dgm:spPr/>
    </dgm:pt>
    <dgm:pt modelId="{26B81179-19D7-4428-A0A9-A62CBA91E44C}" type="pres">
      <dgm:prSet presAssocID="{ECD25C9B-4244-46A1-8DA4-1F628C44494B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E81227D6-E89C-4E4F-B46C-E38359C3A588}" type="pres">
      <dgm:prSet presAssocID="{ECD25C9B-4244-46A1-8DA4-1F628C44494B}" presName="spaceRect" presStyleCnt="0"/>
      <dgm:spPr/>
    </dgm:pt>
    <dgm:pt modelId="{6CCBE79D-ABA9-4A30-8E08-91BFC3DCA5ED}" type="pres">
      <dgm:prSet presAssocID="{ECD25C9B-4244-46A1-8DA4-1F628C44494B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A05E004-E7A8-40A4-9193-DC40B3FD8092}" type="presOf" srcId="{85456C87-4E86-48C3-95A3-F65F04AF3BCE}" destId="{91830E6A-53DC-4169-BB81-079897017D56}" srcOrd="0" destOrd="0" presId="urn:microsoft.com/office/officeart/2018/2/layout/IconVerticalSolidList"/>
    <dgm:cxn modelId="{53034F0E-CBCE-42F4-AB7D-4A76DC932BA4}" type="presOf" srcId="{ECD25C9B-4244-46A1-8DA4-1F628C44494B}" destId="{6CCBE79D-ABA9-4A30-8E08-91BFC3DCA5ED}" srcOrd="0" destOrd="0" presId="urn:microsoft.com/office/officeart/2018/2/layout/IconVerticalSolidList"/>
    <dgm:cxn modelId="{0D1F0849-1653-4F91-BABF-0A49C6D72F41}" type="presOf" srcId="{E5D1A1A9-9847-4F56-BAA4-2ACB1F3F775F}" destId="{2D408A49-9E50-4543-AA46-BA601213C75C}" srcOrd="0" destOrd="0" presId="urn:microsoft.com/office/officeart/2018/2/layout/IconVerticalSolidList"/>
    <dgm:cxn modelId="{D3071077-38C1-4CEB-8846-5692017281E1}" srcId="{E5D1A1A9-9847-4F56-BAA4-2ACB1F3F775F}" destId="{ECD25C9B-4244-46A1-8DA4-1F628C44494B}" srcOrd="1" destOrd="0" parTransId="{357C57BA-A2C9-47D8-9ECE-B7F6EF05B4A2}" sibTransId="{79D40F45-8360-4482-A981-9BDEECD3C92D}"/>
    <dgm:cxn modelId="{3E5702BE-02B4-444C-B686-5C22A240FAA4}" srcId="{E5D1A1A9-9847-4F56-BAA4-2ACB1F3F775F}" destId="{85456C87-4E86-48C3-95A3-F65F04AF3BCE}" srcOrd="0" destOrd="0" parTransId="{5CBE6827-D5BE-45BA-9ED6-886210B11D2F}" sibTransId="{5C2CF707-064E-4914-8CB9-0C293C797EBC}"/>
    <dgm:cxn modelId="{AA1E1D78-4D8B-4214-A2B4-0A1C1AB2AFFD}" type="presParOf" srcId="{2D408A49-9E50-4543-AA46-BA601213C75C}" destId="{972A7574-8C99-42F8-A6FB-2EE47E95801B}" srcOrd="0" destOrd="0" presId="urn:microsoft.com/office/officeart/2018/2/layout/IconVerticalSolidList"/>
    <dgm:cxn modelId="{00A3D809-6616-4449-AD85-F4076368D8D8}" type="presParOf" srcId="{972A7574-8C99-42F8-A6FB-2EE47E95801B}" destId="{68DE9B69-7894-4D26-8B90-7CADB78D7A6B}" srcOrd="0" destOrd="0" presId="urn:microsoft.com/office/officeart/2018/2/layout/IconVerticalSolidList"/>
    <dgm:cxn modelId="{4041C3A7-9054-417E-8118-4C21A0279FB0}" type="presParOf" srcId="{972A7574-8C99-42F8-A6FB-2EE47E95801B}" destId="{83DAD211-C3A9-4620-8289-6BFD6A589E28}" srcOrd="1" destOrd="0" presId="urn:microsoft.com/office/officeart/2018/2/layout/IconVerticalSolidList"/>
    <dgm:cxn modelId="{4E4E4321-7540-43D7-B688-8C7175F45EE5}" type="presParOf" srcId="{972A7574-8C99-42F8-A6FB-2EE47E95801B}" destId="{EADB893C-4D90-4830-9132-A1977E65736C}" srcOrd="2" destOrd="0" presId="urn:microsoft.com/office/officeart/2018/2/layout/IconVerticalSolidList"/>
    <dgm:cxn modelId="{481F7564-7AD7-4C29-8672-837200CC6F4A}" type="presParOf" srcId="{972A7574-8C99-42F8-A6FB-2EE47E95801B}" destId="{91830E6A-53DC-4169-BB81-079897017D56}" srcOrd="3" destOrd="0" presId="urn:microsoft.com/office/officeart/2018/2/layout/IconVerticalSolidList"/>
    <dgm:cxn modelId="{EAF7009F-65E0-4F6B-A609-06BD7D9C0141}" type="presParOf" srcId="{2D408A49-9E50-4543-AA46-BA601213C75C}" destId="{7EAE3E5E-1BA8-47A2-A0E3-4B580F59B289}" srcOrd="1" destOrd="0" presId="urn:microsoft.com/office/officeart/2018/2/layout/IconVerticalSolidList"/>
    <dgm:cxn modelId="{3E43DA1C-C65F-4807-88EA-973C4A6A0210}" type="presParOf" srcId="{2D408A49-9E50-4543-AA46-BA601213C75C}" destId="{216C143D-BC25-4CEF-8AC8-A112E0551319}" srcOrd="2" destOrd="0" presId="urn:microsoft.com/office/officeart/2018/2/layout/IconVerticalSolidList"/>
    <dgm:cxn modelId="{9774471E-C73B-43D9-A8AD-283599889183}" type="presParOf" srcId="{216C143D-BC25-4CEF-8AC8-A112E0551319}" destId="{07D8805B-ED39-475B-A3F5-8DAE5FE841BE}" srcOrd="0" destOrd="0" presId="urn:microsoft.com/office/officeart/2018/2/layout/IconVerticalSolidList"/>
    <dgm:cxn modelId="{35D8D57C-D3B7-47B1-A298-541077E030FF}" type="presParOf" srcId="{216C143D-BC25-4CEF-8AC8-A112E0551319}" destId="{26B81179-19D7-4428-A0A9-A62CBA91E44C}" srcOrd="1" destOrd="0" presId="urn:microsoft.com/office/officeart/2018/2/layout/IconVerticalSolidList"/>
    <dgm:cxn modelId="{E343F008-3EEA-413D-A896-144F79A72102}" type="presParOf" srcId="{216C143D-BC25-4CEF-8AC8-A112E0551319}" destId="{E81227D6-E89C-4E4F-B46C-E38359C3A588}" srcOrd="2" destOrd="0" presId="urn:microsoft.com/office/officeart/2018/2/layout/IconVerticalSolidList"/>
    <dgm:cxn modelId="{89FA737D-B9E6-4759-9942-B2D6BFB5D3B4}" type="presParOf" srcId="{216C143D-BC25-4CEF-8AC8-A112E0551319}" destId="{6CCBE79D-ABA9-4A30-8E08-91BFC3DCA5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DE9B69-7894-4D26-8B90-7CADB78D7A6B}">
      <dsp:nvSpPr>
        <dsp:cNvPr id="0" name=""/>
        <dsp:cNvSpPr/>
      </dsp:nvSpPr>
      <dsp:spPr>
        <a:xfrm>
          <a:off x="0" y="18742"/>
          <a:ext cx="6388331" cy="16942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DAD211-C3A9-4620-8289-6BFD6A589E28}">
      <dsp:nvSpPr>
        <dsp:cNvPr id="0" name=""/>
        <dsp:cNvSpPr/>
      </dsp:nvSpPr>
      <dsp:spPr>
        <a:xfrm>
          <a:off x="512496" y="399938"/>
          <a:ext cx="931812" cy="93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830E6A-53DC-4169-BB81-079897017D56}">
      <dsp:nvSpPr>
        <dsp:cNvPr id="0" name=""/>
        <dsp:cNvSpPr/>
      </dsp:nvSpPr>
      <dsp:spPr>
        <a:xfrm>
          <a:off x="1956805" y="18742"/>
          <a:ext cx="4051696" cy="238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145" tIns="252145" rIns="252145" bIns="252145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Canada’s interest payments on the war debt were $164million per year, soldiers' pensions another $76million per year </a:t>
          </a:r>
        </a:p>
      </dsp:txBody>
      <dsp:txXfrm>
        <a:off x="1956805" y="18742"/>
        <a:ext cx="4051696" cy="2382474"/>
      </dsp:txXfrm>
    </dsp:sp>
    <dsp:sp modelId="{07D8805B-ED39-475B-A3F5-8DAE5FE841BE}">
      <dsp:nvSpPr>
        <dsp:cNvPr id="0" name=""/>
        <dsp:cNvSpPr/>
      </dsp:nvSpPr>
      <dsp:spPr>
        <a:xfrm>
          <a:off x="0" y="2790191"/>
          <a:ext cx="6388331" cy="169420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B81179-19D7-4428-A0A9-A62CBA91E44C}">
      <dsp:nvSpPr>
        <dsp:cNvPr id="0" name=""/>
        <dsp:cNvSpPr/>
      </dsp:nvSpPr>
      <dsp:spPr>
        <a:xfrm>
          <a:off x="512496" y="3171387"/>
          <a:ext cx="931812" cy="93181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CBE79D-ABA9-4A30-8E08-91BFC3DCA5ED}">
      <dsp:nvSpPr>
        <dsp:cNvPr id="0" name=""/>
        <dsp:cNvSpPr/>
      </dsp:nvSpPr>
      <dsp:spPr>
        <a:xfrm>
          <a:off x="1956805" y="2790191"/>
          <a:ext cx="4051696" cy="2382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2145" tIns="252145" rIns="252145" bIns="25214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Income tax became a permanent feature of Canadian life</a:t>
          </a:r>
        </a:p>
      </dsp:txBody>
      <dsp:txXfrm>
        <a:off x="1956805" y="2790191"/>
        <a:ext cx="4051696" cy="2382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F75CD-05E7-4F4C-82A6-BACE6924A50A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308C27-21F4-7F49-8057-2BD1A5E1EC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989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b="0" i="0" dirty="0">
                <a:solidFill>
                  <a:srgbClr val="535353"/>
                </a:solidFill>
                <a:effectLst/>
                <a:highlight>
                  <a:srgbClr val="FFFFFF"/>
                </a:highlight>
                <a:latin typeface="ff1"/>
              </a:rPr>
              <a:t>War Natural Disasters Famine Government Policies Investor Conﬁdence</a:t>
            </a:r>
            <a:endParaRPr lang="en-CA" b="0" i="0" dirty="0">
              <a:solidFill>
                <a:srgbClr val="000000"/>
              </a:solidFill>
              <a:effectLst/>
              <a:highlight>
                <a:srgbClr val="FFFFFF"/>
              </a:highlight>
              <a:latin typeface="Source Sans Pro" panose="020B0503030403020204" pitchFamily="34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08C27-21F4-7F49-8057-2BD1A5E1ECB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6709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Honda $39 / </a:t>
            </a:r>
            <a:r>
              <a:rPr lang="en-CA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3,687,000</a:t>
            </a:r>
          </a:p>
          <a:p>
            <a:r>
              <a:rPr lang="en-CA" b="0" i="0" dirty="0">
                <a:solidFill>
                  <a:srgbClr val="E8E8E8"/>
                </a:solidFill>
                <a:effectLst/>
                <a:highlight>
                  <a:srgbClr val="1F1F1F"/>
                </a:highlight>
                <a:latin typeface="Google Sans"/>
              </a:rPr>
              <a:t>Tesla $127 / 1,808,581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08C27-21F4-7F49-8057-2BD1A5E1ECBA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28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308C27-21F4-7F49-8057-2BD1A5E1ECBA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0867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8388" y="745440"/>
            <a:ext cx="8132227" cy="3559859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7308" y="4669316"/>
            <a:ext cx="8132227" cy="135048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77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904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8" y="2243708"/>
            <a:ext cx="9156288" cy="3776091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0137" y="838201"/>
            <a:ext cx="9156289" cy="1405508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12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3197" y="750627"/>
            <a:ext cx="10846556" cy="13041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6961" y="2075250"/>
            <a:ext cx="4571288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79560" y="2075250"/>
            <a:ext cx="4770191" cy="410149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2304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649" y="743803"/>
            <a:ext cx="10764271" cy="1025362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961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56961" y="2678597"/>
            <a:ext cx="4571287" cy="35067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98633" y="1769166"/>
            <a:ext cx="4571287" cy="815008"/>
          </a:xfrm>
        </p:spPr>
        <p:txBody>
          <a:bodyPr anchor="b">
            <a:noAutofit/>
          </a:bodyPr>
          <a:lstStyle>
            <a:lvl1pPr marL="0" indent="0">
              <a:buNone/>
              <a:defRPr sz="2000" b="0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98633" y="2678596"/>
            <a:ext cx="4571287" cy="35067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1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09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766"/>
            <a:ext cx="7240293" cy="354753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1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2039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1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2967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395" y="766636"/>
            <a:ext cx="3951745" cy="151062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702452"/>
            <a:ext cx="6249988" cy="531734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3953" y="2277264"/>
            <a:ext cx="3752747" cy="374253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071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972" y="765850"/>
            <a:ext cx="3995693" cy="177477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05400" y="838200"/>
            <a:ext cx="6249988" cy="51815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0137" y="2552699"/>
            <a:ext cx="3736563" cy="3467099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/>
          <a:lstStyle/>
          <a:p>
            <a:fld id="{3220A08F-2B1D-4498-A043-7C299B1C2561}" type="datetime1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01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757451"/>
            <a:ext cx="10875953" cy="121465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35467" y="1972101"/>
            <a:ext cx="10848873" cy="40476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760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359496" y="755981"/>
            <a:ext cx="2277552" cy="53383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755981"/>
            <a:ext cx="8230086" cy="5338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304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9956747" cy="14387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5467" y="2306781"/>
            <a:ext cx="9956747" cy="3870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0137" y="63202"/>
            <a:ext cx="2743200" cy="31822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567E9B64-DC09-41C8-9DE3-DA74AF8D2F97}" type="datetime1">
              <a:rPr lang="en-US" smtClean="0"/>
              <a:t>5/4/26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44016" y="64247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03951" y="6425816"/>
            <a:ext cx="4297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531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7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iAO3iIeQ8w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1rob7TJ1lVY" TargetMode="External"/><Relationship Id="rId2" Type="http://schemas.openxmlformats.org/officeDocument/2006/relationships/hyperlink" Target="https://www.youtube.com/watch?v=GVytOtfPZe8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hyperlink" Target="https://youtu.be/lN3qrFA4jXc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_VstTwFxNKk?feature=oembe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D30F25F-7390-A3F6-08CD-ABD7C3A7A4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Video 13" descr="Graphs And Numbers">
            <a:extLst>
              <a:ext uri="{FF2B5EF4-FFF2-40B4-BE49-F238E27FC236}">
                <a16:creationId xmlns:a16="http://schemas.microsoft.com/office/drawing/2014/main" id="{A60D61D4-C0BD-11B3-889C-1590A687AE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4"/>
          <a:srcRect t="284" r="1" b="1"/>
          <a:stretch/>
        </p:blipFill>
        <p:spPr>
          <a:xfrm>
            <a:off x="1" y="1"/>
            <a:ext cx="12192000" cy="6858000"/>
          </a:xfrm>
          <a:prstGeom prst="rect">
            <a:avLst/>
          </a:prstGeom>
        </p:spPr>
      </p:pic>
      <p:sp useBgFill="1">
        <p:nvSpPr>
          <p:cNvPr id="19" name="Freeform: Shape 18">
            <a:extLst>
              <a:ext uri="{FF2B5EF4-FFF2-40B4-BE49-F238E27FC236}">
                <a16:creationId xmlns:a16="http://schemas.microsoft.com/office/drawing/2014/main" id="{47F8E9A3-29C0-2BE8-E41E-EDFE94D873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92000" cy="6858000"/>
          </a:xfrm>
          <a:custGeom>
            <a:avLst/>
            <a:gdLst>
              <a:gd name="connsiteX0" fmla="*/ 4948878 w 12192000"/>
              <a:gd name="connsiteY0" fmla="*/ 65131 h 6858000"/>
              <a:gd name="connsiteX1" fmla="*/ 4305301 w 12192000"/>
              <a:gd name="connsiteY1" fmla="*/ 708707 h 6858000"/>
              <a:gd name="connsiteX2" fmla="*/ 4305301 w 12192000"/>
              <a:gd name="connsiteY2" fmla="*/ 6149294 h 6858000"/>
              <a:gd name="connsiteX3" fmla="*/ 4948878 w 12192000"/>
              <a:gd name="connsiteY3" fmla="*/ 6792870 h 6858000"/>
              <a:gd name="connsiteX4" fmla="*/ 11471815 w 12192000"/>
              <a:gd name="connsiteY4" fmla="*/ 6792870 h 6858000"/>
              <a:gd name="connsiteX5" fmla="*/ 12115391 w 12192000"/>
              <a:gd name="connsiteY5" fmla="*/ 6149294 h 6858000"/>
              <a:gd name="connsiteX6" fmla="*/ 12115391 w 12192000"/>
              <a:gd name="connsiteY6" fmla="*/ 708707 h 6858000"/>
              <a:gd name="connsiteX7" fmla="*/ 11471815 w 12192000"/>
              <a:gd name="connsiteY7" fmla="*/ 65131 h 6858000"/>
              <a:gd name="connsiteX8" fmla="*/ 0 w 12192000"/>
              <a:gd name="connsiteY8" fmla="*/ 0 h 6858000"/>
              <a:gd name="connsiteX9" fmla="*/ 12192000 w 12192000"/>
              <a:gd name="connsiteY9" fmla="*/ 0 h 6858000"/>
              <a:gd name="connsiteX10" fmla="*/ 12192000 w 12192000"/>
              <a:gd name="connsiteY10" fmla="*/ 6858000 h 6858000"/>
              <a:gd name="connsiteX11" fmla="*/ 0 w 12192000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4948878" y="65131"/>
                </a:moveTo>
                <a:cubicBezTo>
                  <a:pt x="4593440" y="65131"/>
                  <a:pt x="4305301" y="353270"/>
                  <a:pt x="4305301" y="708707"/>
                </a:cubicBezTo>
                <a:lnTo>
                  <a:pt x="4305301" y="6149294"/>
                </a:lnTo>
                <a:cubicBezTo>
                  <a:pt x="4305301" y="6504731"/>
                  <a:pt x="4593440" y="6792870"/>
                  <a:pt x="4948878" y="6792870"/>
                </a:cubicBezTo>
                <a:lnTo>
                  <a:pt x="11471815" y="6792870"/>
                </a:lnTo>
                <a:cubicBezTo>
                  <a:pt x="11827252" y="6792870"/>
                  <a:pt x="12115391" y="6504731"/>
                  <a:pt x="12115391" y="6149294"/>
                </a:cubicBezTo>
                <a:lnTo>
                  <a:pt x="12115391" y="708707"/>
                </a:lnTo>
                <a:cubicBezTo>
                  <a:pt x="12115391" y="353270"/>
                  <a:pt x="11827252" y="65131"/>
                  <a:pt x="11471815" y="65131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BD946D4C-4686-8ACD-A38F-44D54B5327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2252" y="2057400"/>
            <a:ext cx="3698627" cy="2333531"/>
          </a:xfrm>
        </p:spPr>
        <p:txBody>
          <a:bodyPr anchor="t">
            <a:normAutofit/>
          </a:bodyPr>
          <a:lstStyle/>
          <a:p>
            <a:r>
              <a:rPr lang="en-CA" sz="4000" b="0" i="0" dirty="0">
                <a:effectLst/>
                <a:latin typeface="ff1"/>
              </a:rPr>
              <a:t>ECONOMIC GLOBALIZATION</a:t>
            </a:r>
            <a:br>
              <a:rPr lang="en-CA" sz="4000" b="0" i="0" dirty="0">
                <a:effectLst/>
                <a:latin typeface="ff1"/>
              </a:rPr>
            </a:br>
            <a:br>
              <a:rPr lang="en-CA" sz="4000" b="0" i="0" dirty="0">
                <a:effectLst/>
                <a:latin typeface="ff1"/>
              </a:rPr>
            </a:br>
            <a:r>
              <a:rPr lang="en-CA" sz="4000" b="0" i="0" dirty="0">
                <a:effectLst/>
                <a:latin typeface="ff1"/>
              </a:rPr>
              <a:t>C.R.E.A.M.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2119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5A7FC23-8B51-612D-0894-2FD76DC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Mobile device with apps">
            <a:extLst>
              <a:ext uri="{FF2B5EF4-FFF2-40B4-BE49-F238E27FC236}">
                <a16:creationId xmlns:a16="http://schemas.microsoft.com/office/drawing/2014/main" id="{44475C6C-0125-A083-208F-35D247A8FC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08ACD-308A-ACBF-2A60-D14A7D839A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9ABAEB7-6DB0-5001-2844-0AB248917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708912"/>
            <a:ext cx="12191999" cy="3149088"/>
          </a:xfrm>
          <a:custGeom>
            <a:avLst/>
            <a:gdLst>
              <a:gd name="connsiteX0" fmla="*/ 677913 w 12191999"/>
              <a:gd name="connsiteY0" fmla="*/ 0 h 3149088"/>
              <a:gd name="connsiteX1" fmla="*/ 11514086 w 12191999"/>
              <a:gd name="connsiteY1" fmla="*/ 0 h 3149088"/>
              <a:gd name="connsiteX2" fmla="*/ 12191999 w 12191999"/>
              <a:gd name="connsiteY2" fmla="*/ 677913 h 3149088"/>
              <a:gd name="connsiteX3" fmla="*/ 12191999 w 12191999"/>
              <a:gd name="connsiteY3" fmla="*/ 3149088 h 3149088"/>
              <a:gd name="connsiteX4" fmla="*/ 0 w 12191999"/>
              <a:gd name="connsiteY4" fmla="*/ 3149088 h 3149088"/>
              <a:gd name="connsiteX5" fmla="*/ 0 w 12191999"/>
              <a:gd name="connsiteY5" fmla="*/ 677913 h 3149088"/>
              <a:gd name="connsiteX6" fmla="*/ 677913 w 12191999"/>
              <a:gd name="connsiteY6" fmla="*/ 0 h 314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149088">
                <a:moveTo>
                  <a:pt x="677913" y="0"/>
                </a:moveTo>
                <a:lnTo>
                  <a:pt x="11514086" y="0"/>
                </a:lnTo>
                <a:cubicBezTo>
                  <a:pt x="11888487" y="0"/>
                  <a:pt x="12191999" y="303512"/>
                  <a:pt x="12191999" y="677913"/>
                </a:cubicBezTo>
                <a:lnTo>
                  <a:pt x="12191999" y="3149088"/>
                </a:lnTo>
                <a:lnTo>
                  <a:pt x="0" y="3149088"/>
                </a:ln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816498-F25A-DD12-C6F4-695370C47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4108600"/>
            <a:ext cx="4797012" cy="2248657"/>
          </a:xfrm>
        </p:spPr>
        <p:txBody>
          <a:bodyPr anchor="t">
            <a:normAutofit/>
          </a:bodyPr>
          <a:lstStyle/>
          <a:p>
            <a:r>
              <a:rPr lang="en-US" dirty="0"/>
              <a:t>Economic Globalization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5D306-00E3-850B-1362-4C322ED044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4108600"/>
            <a:ext cx="5232740" cy="2448627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 spread of trade, transportation, and communication systems around the world in the interest of promoting worldwide commerce</a:t>
            </a:r>
          </a:p>
          <a:p>
            <a:pPr>
              <a:lnSpc>
                <a:spcPct val="110000"/>
              </a:lnSpc>
            </a:pPr>
            <a:r>
              <a:rPr lang="en-US" dirty="0"/>
              <a:t>Can you think of ways that you have interacted with any of these things in the last 24 hours?</a:t>
            </a:r>
          </a:p>
          <a:p>
            <a:pPr>
              <a:lnSpc>
                <a:spcPct val="110000"/>
              </a:lnSpc>
            </a:pP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013BF-7877-C30C-5A05-8F828EAA4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E5ADAA-3AB2-8F6E-D52D-DBCEF9FD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89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9F9CA3-DA7C-EC08-4CD9-6A50CA2CE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anchor="t">
            <a:normAutofit/>
          </a:bodyPr>
          <a:lstStyle/>
          <a:p>
            <a:r>
              <a:rPr lang="en-US" dirty="0"/>
              <a:t>GLOBAL FACTORS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E7014-C7F5-2C18-EE19-51C180E0D1A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1F7BA-EA23-3109-F917-414215810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503" y="2763488"/>
            <a:ext cx="3993175" cy="1331024"/>
          </a:xfrm>
        </p:spPr>
        <p:txBody>
          <a:bodyPr anchor="b">
            <a:normAutofit/>
          </a:bodyPr>
          <a:lstStyle/>
          <a:p>
            <a:r>
              <a:rPr lang="en-US" dirty="0"/>
              <a:t> What “events” or “decisions” might affect the global economy?</a:t>
            </a:r>
          </a:p>
          <a:p>
            <a:endParaRPr lang="en-US" dirty="0"/>
          </a:p>
        </p:txBody>
      </p:sp>
      <p:pic>
        <p:nvPicPr>
          <p:cNvPr id="17" name="Picture 16" descr="A person holding a globe">
            <a:extLst>
              <a:ext uri="{FF2B5EF4-FFF2-40B4-BE49-F238E27FC236}">
                <a16:creationId xmlns:a16="http://schemas.microsoft.com/office/drawing/2014/main" id="{F26188D8-C216-7101-96BE-70C9858C746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406" r="19074"/>
          <a:stretch/>
        </p:blipFill>
        <p:spPr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39B66-9AA7-8C60-1C5D-BA48A2AFC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3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9A34B41-6B3E-A03A-978A-27B75847F193}"/>
              </a:ext>
            </a:extLst>
          </p:cNvPr>
          <p:cNvSpPr txBox="1">
            <a:spLocks/>
          </p:cNvSpPr>
          <p:nvPr/>
        </p:nvSpPr>
        <p:spPr>
          <a:xfrm>
            <a:off x="7496416" y="65771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Social 30 Prep!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356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0E9F74D-F55F-F7B2-75C2-14DECC31E6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710A2054-FB7A-EA09-5DA6-8CFF315208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8379" y="0"/>
            <a:ext cx="5058469" cy="6874453"/>
          </a:xfrm>
          <a:custGeom>
            <a:avLst/>
            <a:gdLst>
              <a:gd name="connsiteX0" fmla="*/ 679539 w 5058469"/>
              <a:gd name="connsiteY0" fmla="*/ 0 h 6874453"/>
              <a:gd name="connsiteX1" fmla="*/ 5058469 w 5058469"/>
              <a:gd name="connsiteY1" fmla="*/ 0 h 6874453"/>
              <a:gd name="connsiteX2" fmla="*/ 5058469 w 5058469"/>
              <a:gd name="connsiteY2" fmla="*/ 6874453 h 6874453"/>
              <a:gd name="connsiteX3" fmla="*/ 679539 w 5058469"/>
              <a:gd name="connsiteY3" fmla="*/ 6874453 h 6874453"/>
              <a:gd name="connsiteX4" fmla="*/ 0 w 5058469"/>
              <a:gd name="connsiteY4" fmla="*/ 6194913 h 6874453"/>
              <a:gd name="connsiteX5" fmla="*/ 0 w 5058469"/>
              <a:gd name="connsiteY5" fmla="*/ 679540 h 6874453"/>
              <a:gd name="connsiteX6" fmla="*/ 679539 w 505846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058469" h="6874453">
                <a:moveTo>
                  <a:pt x="679539" y="0"/>
                </a:moveTo>
                <a:lnTo>
                  <a:pt x="5058469" y="0"/>
                </a:lnTo>
                <a:lnTo>
                  <a:pt x="505846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1E0B78-8A89-81C5-614C-DE3ECBA7B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137" y="1679916"/>
            <a:ext cx="4256263" cy="1799665"/>
          </a:xfrm>
        </p:spPr>
        <p:txBody>
          <a:bodyPr anchor="t">
            <a:normAutofit/>
          </a:bodyPr>
          <a:lstStyle/>
          <a:p>
            <a:r>
              <a:rPr lang="en-US" dirty="0"/>
              <a:t>War and the Economy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33F02-3481-89D5-F81E-AD0600E271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540A0-AE7D-B5C1-44D9-52A7FBAFB2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163" y="5159498"/>
            <a:ext cx="6571762" cy="1169687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How do you think World War 1 effected the global economy?</a:t>
            </a:r>
          </a:p>
          <a:p>
            <a:endParaRPr lang="en-US" dirty="0"/>
          </a:p>
        </p:txBody>
      </p:sp>
      <p:pic>
        <p:nvPicPr>
          <p:cNvPr id="8" name="Picture 7" descr="A blue and black information&#10;&#10;Description automatically generated with medium confidence">
            <a:extLst>
              <a:ext uri="{FF2B5EF4-FFF2-40B4-BE49-F238E27FC236}">
                <a16:creationId xmlns:a16="http://schemas.microsoft.com/office/drawing/2014/main" id="{4C3C06F2-0981-F365-4791-41B4651FC9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561" y="222312"/>
            <a:ext cx="7010967" cy="4714874"/>
          </a:xfrm>
          <a:prstGeom prst="snipRound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0BB88D-4BF6-2895-53C4-FDD07A914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35AF4016-56B5-5D9E-E024-7C6AA002E5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3753032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F904DB4-22D2-4F22-B1B8-ADDDBB7FF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F60C5463-4C1F-6EA2-5253-B3A2FE16A3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4076698" cy="6858000"/>
          </a:xfrm>
          <a:custGeom>
            <a:avLst/>
            <a:gdLst>
              <a:gd name="connsiteX0" fmla="*/ 4076698 w 4076698"/>
              <a:gd name="connsiteY0" fmla="*/ 6858000 h 6858000"/>
              <a:gd name="connsiteX1" fmla="*/ 677913 w 4076698"/>
              <a:gd name="connsiteY1" fmla="*/ 6858000 h 6858000"/>
              <a:gd name="connsiteX2" fmla="*/ 0 w 4076698"/>
              <a:gd name="connsiteY2" fmla="*/ 6180087 h 6858000"/>
              <a:gd name="connsiteX3" fmla="*/ 0 w 4076698"/>
              <a:gd name="connsiteY3" fmla="*/ 677913 h 6858000"/>
              <a:gd name="connsiteX4" fmla="*/ 677913 w 4076698"/>
              <a:gd name="connsiteY4" fmla="*/ 0 h 6858000"/>
              <a:gd name="connsiteX5" fmla="*/ 4076698 w 4076698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76698" h="6858000">
                <a:moveTo>
                  <a:pt x="4076698" y="6858000"/>
                </a:move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lnTo>
                  <a:pt x="4076698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DB3AA5-7A5D-BDD4-171A-CBC960292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057" y="753762"/>
            <a:ext cx="3229942" cy="5436609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The War to end all Wars</a:t>
            </a: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2A26C4-D3DC-F79E-5AEE-2805D01B40A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0D96C-5C5F-E941-FDF1-4693B1C8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E8075D43-D2FC-060A-BC7A-4024637DB9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7847673"/>
              </p:ext>
            </p:extLst>
          </p:nvPr>
        </p:nvGraphicFramePr>
        <p:xfrm>
          <a:off x="5015619" y="838201"/>
          <a:ext cx="6388331" cy="51914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026" name="Picture 2" descr="Call to Arms: The Draft and Training - World War I Centennial site">
            <a:extLst>
              <a:ext uri="{FF2B5EF4-FFF2-40B4-BE49-F238E27FC236}">
                <a16:creationId xmlns:a16="http://schemas.microsoft.com/office/drawing/2014/main" id="{8D1C962C-7E27-1E54-B24C-DA589CB555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797" r="6464"/>
          <a:stretch/>
        </p:blipFill>
        <p:spPr bwMode="auto">
          <a:xfrm>
            <a:off x="337195" y="2322360"/>
            <a:ext cx="3228975" cy="38680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B56C400-32BB-F8D4-519C-C0ED7BE2B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1224665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AD0F4-F884-18AD-6F83-DB1AD699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1"/>
            <a:ext cx="11525332" cy="737111"/>
          </a:xfrm>
        </p:spPr>
        <p:txBody>
          <a:bodyPr>
            <a:normAutofit/>
          </a:bodyPr>
          <a:lstStyle/>
          <a:p>
            <a:r>
              <a:rPr lang="en-US" sz="4000"/>
              <a:t>THE END OF THE WAR TO END ALL WARS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33034-E027-520D-E526-F65EFB985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387" y="1955946"/>
            <a:ext cx="7008549" cy="387018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Treaty of Versailles</a:t>
            </a:r>
          </a:p>
          <a:p>
            <a:r>
              <a:rPr lang="en-US" sz="2800" b="1" dirty="0"/>
              <a:t>Imposed harsh conditions on Germany </a:t>
            </a:r>
          </a:p>
          <a:p>
            <a:pPr lvl="1"/>
            <a:r>
              <a:rPr lang="en-US" sz="2400" dirty="0"/>
              <a:t>forced to pay reparations and give up colonies. People in these colonies were not included in these decisions.</a:t>
            </a:r>
          </a:p>
          <a:p>
            <a:pPr lvl="1"/>
            <a:r>
              <a:rPr lang="en-US" sz="2400" dirty="0"/>
              <a:t>Economist John Maynard Keynes and other delegates warned conditions too severe and would lead to another war </a:t>
            </a:r>
          </a:p>
          <a:p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764849-BD2C-FB3D-D4CF-A8044774F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5/4/26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2CEEB-B76E-6574-C8E6-E8052EC89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6</a:t>
            </a:fld>
            <a:endParaRPr lang="en-US"/>
          </a:p>
        </p:txBody>
      </p:sp>
      <p:pic>
        <p:nvPicPr>
          <p:cNvPr id="2050" name="Picture 2" descr="Treaty of Versailles - Wikipedia">
            <a:extLst>
              <a:ext uri="{FF2B5EF4-FFF2-40B4-BE49-F238E27FC236}">
                <a16:creationId xmlns:a16="http://schemas.microsoft.com/office/drawing/2014/main" id="{4617B754-8254-A66F-8BC7-3597E54F1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0031" y="1732108"/>
            <a:ext cx="4003920" cy="414523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18B5B684-002C-C694-E11F-A26FD1969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3365546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652882A-CF84-A07A-5669-783ABB1B95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44625"/>
            <a:ext cx="6041572" cy="1361203"/>
          </a:xfrm>
        </p:spPr>
        <p:txBody>
          <a:bodyPr anchor="t">
            <a:normAutofit/>
          </a:bodyPr>
          <a:lstStyle/>
          <a:p>
            <a:r>
              <a:rPr lang="en-US" sz="4000" dirty="0"/>
              <a:t>From Russia with Love - 1917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62477-D654-E159-7E11-BC3191AD68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27F3E-F951-A897-988A-997486BF6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928" y="1431227"/>
            <a:ext cx="4764773" cy="4841831"/>
          </a:xfrm>
        </p:spPr>
        <p:txBody>
          <a:bodyPr anchor="b">
            <a:normAutofit fontScale="92500"/>
          </a:bodyPr>
          <a:lstStyle/>
          <a:p>
            <a:pPr marL="0" indent="0">
              <a:buNone/>
            </a:pPr>
            <a:r>
              <a:rPr lang="en-US" sz="2800" dirty="0"/>
              <a:t>The Russian Revolution</a:t>
            </a:r>
          </a:p>
          <a:p>
            <a:pPr lvl="1"/>
            <a:r>
              <a:rPr lang="en-US" sz="2400" dirty="0"/>
              <a:t>Russia ruled by Czar Nicholas II who was an absolute monarch</a:t>
            </a:r>
          </a:p>
          <a:p>
            <a:pPr lvl="1"/>
            <a:r>
              <a:rPr lang="en-US" sz="2400" dirty="0"/>
              <a:t>Workers and peasants rebelled against food and fuel shortages, demanding better wages and working conditions</a:t>
            </a:r>
          </a:p>
          <a:p>
            <a:pPr lvl="1"/>
            <a:r>
              <a:rPr lang="en-US" sz="2400" dirty="0"/>
              <a:t>Economy destroyed by revolution and civil war; many people starved to death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9D19F-8B80-7B04-D53C-7D3A23377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3074" name="Picture 2" descr="Why does the Russian revolution matter? | History books | The Guardian">
            <a:extLst>
              <a:ext uri="{FF2B5EF4-FFF2-40B4-BE49-F238E27FC236}">
                <a16:creationId xmlns:a16="http://schemas.microsoft.com/office/drawing/2014/main" id="{20599B20-C9AA-F958-3C63-F7CAD6A60B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62" t="19189" r="50743"/>
          <a:stretch/>
        </p:blipFill>
        <p:spPr bwMode="auto">
          <a:xfrm>
            <a:off x="6150429" y="0"/>
            <a:ext cx="5951740" cy="6790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53361057-F51B-F23E-3210-CCABAEC76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13990804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Rectangle 4102">
            <a:extLst>
              <a:ext uri="{FF2B5EF4-FFF2-40B4-BE49-F238E27FC236}">
                <a16:creationId xmlns:a16="http://schemas.microsoft.com/office/drawing/2014/main" id="{A46739B7-CDA7-1140-87BB-21243FC57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98" name="Picture 2" descr="The human cost of Soviet five-year plans - Russia Beyond">
            <a:extLst>
              <a:ext uri="{FF2B5EF4-FFF2-40B4-BE49-F238E27FC236}">
                <a16:creationId xmlns:a16="http://schemas.microsoft.com/office/drawing/2014/main" id="{95811DAD-931D-E29A-A5B7-D1B168FFF4D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"/>
          <a:stretch/>
        </p:blipFill>
        <p:spPr bwMode="auto">
          <a:xfrm>
            <a:off x="1" y="-8227"/>
            <a:ext cx="12191999" cy="6874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05" name="Freeform: Shape 4104">
            <a:extLst>
              <a:ext uri="{FF2B5EF4-FFF2-40B4-BE49-F238E27FC236}">
                <a16:creationId xmlns:a16="http://schemas.microsoft.com/office/drawing/2014/main" id="{9F78D102-89E6-1D04-B77B-FB85BB44E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2811" y="-8227"/>
            <a:ext cx="4909189" cy="6874453"/>
          </a:xfrm>
          <a:custGeom>
            <a:avLst/>
            <a:gdLst>
              <a:gd name="connsiteX0" fmla="*/ 679539 w 4909189"/>
              <a:gd name="connsiteY0" fmla="*/ 0 h 6874453"/>
              <a:gd name="connsiteX1" fmla="*/ 4909189 w 4909189"/>
              <a:gd name="connsiteY1" fmla="*/ 0 h 6874453"/>
              <a:gd name="connsiteX2" fmla="*/ 4909189 w 4909189"/>
              <a:gd name="connsiteY2" fmla="*/ 6874453 h 6874453"/>
              <a:gd name="connsiteX3" fmla="*/ 679539 w 4909189"/>
              <a:gd name="connsiteY3" fmla="*/ 6874453 h 6874453"/>
              <a:gd name="connsiteX4" fmla="*/ 0 w 4909189"/>
              <a:gd name="connsiteY4" fmla="*/ 6194913 h 6874453"/>
              <a:gd name="connsiteX5" fmla="*/ 0 w 4909189"/>
              <a:gd name="connsiteY5" fmla="*/ 679540 h 6874453"/>
              <a:gd name="connsiteX6" fmla="*/ 679539 w 490918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9189" h="6874453">
                <a:moveTo>
                  <a:pt x="679539" y="0"/>
                </a:moveTo>
                <a:lnTo>
                  <a:pt x="4909189" y="0"/>
                </a:lnTo>
                <a:lnTo>
                  <a:pt x="490918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273EC8-13F9-1819-9708-791CDD21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215" y="583686"/>
            <a:ext cx="4115510" cy="1829832"/>
          </a:xfrm>
        </p:spPr>
        <p:txBody>
          <a:bodyPr anchor="t">
            <a:normAutofit/>
          </a:bodyPr>
          <a:lstStyle/>
          <a:p>
            <a:r>
              <a:rPr lang="en-US" sz="4000"/>
              <a:t>IN RUSSIA, NOTES WRITE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3F44D-B0CF-E824-7440-C5B28918A9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011010-E4C8-B900-506D-67531681D3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8216" y="2560925"/>
            <a:ext cx="3709114" cy="3572254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dirty="0"/>
              <a:t>Under Communist system, land and other property were to belong to everyone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Soviet Union became a one-party state, dictatorship</a:t>
            </a:r>
            <a:endParaRPr lang="en-US"/>
          </a:p>
          <a:p>
            <a:pPr>
              <a:lnSpc>
                <a:spcPct val="110000"/>
              </a:lnSpc>
            </a:pPr>
            <a:r>
              <a:rPr lang="en-US" dirty="0"/>
              <a:t>Joseph Stalin transformed the country’s economy, made Russia into industrial and military giant - the people suffered and starved</a:t>
            </a:r>
            <a:endParaRPr lang="en-US"/>
          </a:p>
          <a:p>
            <a:pPr>
              <a:lnSpc>
                <a:spcPct val="110000"/>
              </a:lnSpc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4AE0F-71B4-3CD8-200D-0E4CC7114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1790B33-BF08-6E15-889C-DE90F318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27631109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41C49-07E2-66E9-9B9C-87409E31F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dirty="0"/>
              <a:t>THE LARGE UNHAPPINESS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278A5-6D96-F1B2-C604-574CAEE0A2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EAB30-E60E-AA06-12A5-002CFA177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27" y="2035630"/>
            <a:ext cx="5397092" cy="4669970"/>
          </a:xfrm>
        </p:spPr>
        <p:txBody>
          <a:bodyPr anchor="b">
            <a:normAutofit/>
          </a:bodyPr>
          <a:lstStyle/>
          <a:p>
            <a:r>
              <a:rPr lang="en-US" sz="1600" dirty="0"/>
              <a:t>How does the stock market work?</a:t>
            </a:r>
          </a:p>
          <a:p>
            <a:endParaRPr lang="en-US" sz="1600" dirty="0"/>
          </a:p>
          <a:p>
            <a:r>
              <a:rPr lang="en-US" sz="1600" dirty="0"/>
              <a:t>Do you think countries should restrict trade when faced with tough economic times?</a:t>
            </a:r>
          </a:p>
          <a:p>
            <a:pPr lvl="1"/>
            <a:r>
              <a:rPr lang="en-US" sz="1400" dirty="0"/>
              <a:t>What would be a pro?</a:t>
            </a:r>
          </a:p>
          <a:p>
            <a:pPr lvl="1"/>
            <a:r>
              <a:rPr lang="en-US" sz="1400" dirty="0"/>
              <a:t>What’s a con?</a:t>
            </a:r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600" dirty="0">
                <a:hlinkClick r:id="rId3"/>
              </a:rPr>
              <a:t>https://www.youtube.com/watch?v=CiAO3iIeQ8w</a:t>
            </a:r>
            <a:r>
              <a:rPr lang="en-US" sz="1600" dirty="0"/>
              <a:t> </a:t>
            </a:r>
          </a:p>
        </p:txBody>
      </p:sp>
      <p:pic>
        <p:nvPicPr>
          <p:cNvPr id="5122" name="Picture 2" descr="1930: The Great Depression - International Brotherhood of Teamsters">
            <a:extLst>
              <a:ext uri="{FF2B5EF4-FFF2-40B4-BE49-F238E27FC236}">
                <a16:creationId xmlns:a16="http://schemas.microsoft.com/office/drawing/2014/main" id="{4941E4E4-DCF1-C810-A493-8B31EDD3CE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56" r="17977"/>
          <a:stretch/>
        </p:blipFill>
        <p:spPr bwMode="auto"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208ABD1F-908E-7292-0449-715CC3283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Social 30 Prep!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1A739-4ADE-163C-E0E8-F97B86776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130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6936-AA14-2A34-E3D0-9A744E520A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7" y="620202"/>
            <a:ext cx="10577327" cy="1438780"/>
          </a:xfrm>
        </p:spPr>
        <p:txBody>
          <a:bodyPr/>
          <a:lstStyle/>
          <a:p>
            <a:r>
              <a:rPr lang="en-US" dirty="0"/>
              <a:t>MAKE AMERICA FRIENDLESS AGAIN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0485-7F96-8682-BE9E-21CAF3C86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137" y="2058982"/>
            <a:ext cx="9956747" cy="3870181"/>
          </a:xfrm>
        </p:spPr>
        <p:txBody>
          <a:bodyPr/>
          <a:lstStyle/>
          <a:p>
            <a:r>
              <a:rPr lang="en-US" dirty="0"/>
              <a:t>Biden: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Trump: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55C09-F9F8-52B1-77C7-B3BBBA694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5/4/26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4DDBE-7B3B-A280-41E7-130D4794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 descr="A close-up of a text&#10;&#10;Description automatically generated">
            <a:extLst>
              <a:ext uri="{FF2B5EF4-FFF2-40B4-BE49-F238E27FC236}">
                <a16:creationId xmlns:a16="http://schemas.microsoft.com/office/drawing/2014/main" id="{71C74FE6-B626-507F-1CD8-FB7367CA9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2328" y="2250630"/>
            <a:ext cx="5881688" cy="2356739"/>
          </a:xfrm>
          <a:prstGeom prst="rect">
            <a:avLst/>
          </a:prstGeom>
        </p:spPr>
      </p:pic>
      <p:pic>
        <p:nvPicPr>
          <p:cNvPr id="10" name="Picture 9" descr="A close up of a word&#10;&#10;Description automatically generated">
            <a:extLst>
              <a:ext uri="{FF2B5EF4-FFF2-40B4-BE49-F238E27FC236}">
                <a16:creationId xmlns:a16="http://schemas.microsoft.com/office/drawing/2014/main" id="{34BFC668-551A-66DE-E42E-4A3B4BB75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99" y="5141685"/>
            <a:ext cx="6210300" cy="82550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23F2845-93C2-A4C2-4CB5-4D2F3366F6FD}"/>
              </a:ext>
            </a:extLst>
          </p:cNvPr>
          <p:cNvSpPr txBox="1"/>
          <p:nvPr/>
        </p:nvSpPr>
        <p:spPr>
          <a:xfrm>
            <a:off x="8321899" y="2631893"/>
            <a:ext cx="345141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What’s a tariff?</a:t>
            </a:r>
          </a:p>
          <a:p>
            <a:endParaRPr lang="en-US" dirty="0"/>
          </a:p>
          <a:p>
            <a:r>
              <a:rPr lang="en-US" dirty="0"/>
              <a:t>Let’s do some math.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EE1144E-09C4-A96C-C062-BBDC293A8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Social 30 Prep!</a:t>
            </a:r>
          </a:p>
        </p:txBody>
      </p:sp>
    </p:spTree>
    <p:extLst>
      <p:ext uri="{BB962C8B-B14F-4D97-AF65-F5344CB8AC3E}">
        <p14:creationId xmlns:p14="http://schemas.microsoft.com/office/powerpoint/2010/main" val="1927975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51" name="Rectangle 6150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99E1C5-7AC4-F7D5-1A2A-EC9A2D676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CANADIAN SADNESS</a:t>
            </a: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527AE-BF52-7E6C-8C9C-E7829FA6B95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294936-A293-4417-FF4E-75FBB6CCE608}"/>
              </a:ext>
            </a:extLst>
          </p:cNvPr>
          <p:cNvSpPr txBox="1"/>
          <p:nvPr/>
        </p:nvSpPr>
        <p:spPr>
          <a:xfrm>
            <a:off x="340618" y="2024743"/>
            <a:ext cx="4406501" cy="385354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Canadian exports decreased by half 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1933 more than a quarter of Canadians were unemployed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endParaRPr lang="en-US" dirty="0"/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Prairies suffered greatly: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</a:pPr>
            <a:r>
              <a:rPr lang="en-US" dirty="0"/>
              <a:t>- price of grain fell, drought, topsoil blew away, grasshopper infestations</a:t>
            </a:r>
          </a:p>
        </p:txBody>
      </p:sp>
      <p:pic>
        <p:nvPicPr>
          <p:cNvPr id="6146" name="Picture 2" descr="Dusting off the history of drought on the Canadian Prairies in the 1930s –  Active History">
            <a:extLst>
              <a:ext uri="{FF2B5EF4-FFF2-40B4-BE49-F238E27FC236}">
                <a16:creationId xmlns:a16="http://schemas.microsoft.com/office/drawing/2014/main" id="{DC460BE0-4A40-45FE-F40F-EB678182193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18" r="9791"/>
          <a:stretch/>
        </p:blipFill>
        <p:spPr bwMode="auto"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E3208-6926-FED1-2665-E87923766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7623C1A1-7708-D1D1-04A9-72E9C59A5FB4}"/>
              </a:ext>
            </a:extLst>
          </p:cNvPr>
          <p:cNvSpPr txBox="1">
            <a:spLocks/>
          </p:cNvSpPr>
          <p:nvPr/>
        </p:nvSpPr>
        <p:spPr>
          <a:xfrm>
            <a:off x="7496416" y="6577161"/>
            <a:ext cx="405993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800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en-US"/>
              <a:t>Social 30 Prep!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5969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179" name="Rectangle 7178">
            <a:extLst>
              <a:ext uri="{FF2B5EF4-FFF2-40B4-BE49-F238E27FC236}">
                <a16:creationId xmlns:a16="http://schemas.microsoft.com/office/drawing/2014/main" id="{3876D2B9-2E99-23C0-A25B-77784F231B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5B01C0-0C7F-14CD-17A3-1AA7090399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8" y="753034"/>
            <a:ext cx="4025406" cy="1799665"/>
          </a:xfrm>
        </p:spPr>
        <p:txBody>
          <a:bodyPr anchor="t">
            <a:normAutofit/>
          </a:bodyPr>
          <a:lstStyle/>
          <a:p>
            <a:r>
              <a:rPr lang="en-US"/>
              <a:t>DIE GROßE DEPRESSION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FA64FE-0A70-4113-5F81-2D37B83AE1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CE438C-FA1E-339F-49E0-A92706DB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19" y="2569464"/>
            <a:ext cx="3993175" cy="3555491"/>
          </a:xfrm>
        </p:spPr>
        <p:txBody>
          <a:bodyPr anchor="t">
            <a:normAutofit fontScale="85000" lnSpcReduction="20000"/>
          </a:bodyPr>
          <a:lstStyle/>
          <a:p>
            <a:r>
              <a:rPr lang="en-US" dirty="0"/>
              <a:t>Great Depression and reparation payments led to people electing Hitler and Nazi Party, who promised to make changes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Germany began conquest of European countries, invasion </a:t>
            </a:r>
            <a:r>
              <a:rPr lang="en-US" dirty="0" err="1"/>
              <a:t>ofPoland</a:t>
            </a:r>
            <a:r>
              <a:rPr lang="en-US" dirty="0"/>
              <a:t> led to war </a:t>
            </a:r>
          </a:p>
          <a:p>
            <a:r>
              <a:rPr lang="en-US" dirty="0"/>
              <a:t>Death tolls extremely large for countries involved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Over 10 million people died in German camps</a:t>
            </a:r>
          </a:p>
          <a:p>
            <a:endParaRPr lang="en-US" dirty="0"/>
          </a:p>
        </p:txBody>
      </p:sp>
      <p:pic>
        <p:nvPicPr>
          <p:cNvPr id="7170" name="Picture 2" descr="The impact of the Depression on Germany - Hitler into power, 1929-1934 -  OCR B - GCSE History Revision - OCR B - BBC Bitesize">
            <a:extLst>
              <a:ext uri="{FF2B5EF4-FFF2-40B4-BE49-F238E27FC236}">
                <a16:creationId xmlns:a16="http://schemas.microsoft.com/office/drawing/2014/main" id="{45F3DC89-2441-3C63-00EF-42E7951F9C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7" r="25893"/>
          <a:stretch/>
        </p:blipFill>
        <p:spPr bwMode="auto">
          <a:xfrm>
            <a:off x="5105401" y="1"/>
            <a:ext cx="7090851" cy="6857999"/>
          </a:xfrm>
          <a:custGeom>
            <a:avLst/>
            <a:gdLst/>
            <a:ahLst/>
            <a:cxnLst/>
            <a:rect l="l" t="t" r="r" b="b"/>
            <a:pathLst>
              <a:path w="7090851" h="6874453">
                <a:moveTo>
                  <a:pt x="679539" y="0"/>
                </a:moveTo>
                <a:lnTo>
                  <a:pt x="7090851" y="0"/>
                </a:lnTo>
                <a:lnTo>
                  <a:pt x="7090851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CAB52-DD56-DBC9-0407-5A1EBE60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rgbClr val="FFFFFF"/>
                </a:solidFill>
              </a:rPr>
              <a:t>SOCIAL 30 PREP!!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3FC76-2547-FF92-981D-9A0C957A9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2685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3" name="Rectangle 9222">
            <a:extLst>
              <a:ext uri="{FF2B5EF4-FFF2-40B4-BE49-F238E27FC236}">
                <a16:creationId xmlns:a16="http://schemas.microsoft.com/office/drawing/2014/main" id="{A46739B7-CDA7-1140-87BB-21243FC57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218" name="Picture 2" descr="The Bren Gun Girl - Canada's History">
            <a:extLst>
              <a:ext uri="{FF2B5EF4-FFF2-40B4-BE49-F238E27FC236}">
                <a16:creationId xmlns:a16="http://schemas.microsoft.com/office/drawing/2014/main" id="{FD112BB6-3BB1-FCA6-CF1F-7B1CA8208E8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257"/>
          <a:stretch/>
        </p:blipFill>
        <p:spPr bwMode="auto">
          <a:xfrm>
            <a:off x="1" y="-8227"/>
            <a:ext cx="12191999" cy="68744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25" name="Freeform: Shape 9224">
            <a:extLst>
              <a:ext uri="{FF2B5EF4-FFF2-40B4-BE49-F238E27FC236}">
                <a16:creationId xmlns:a16="http://schemas.microsoft.com/office/drawing/2014/main" id="{9F78D102-89E6-1D04-B77B-FB85BB44E2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82811" y="-8227"/>
            <a:ext cx="4909189" cy="6874453"/>
          </a:xfrm>
          <a:custGeom>
            <a:avLst/>
            <a:gdLst>
              <a:gd name="connsiteX0" fmla="*/ 679539 w 4909189"/>
              <a:gd name="connsiteY0" fmla="*/ 0 h 6874453"/>
              <a:gd name="connsiteX1" fmla="*/ 4909189 w 4909189"/>
              <a:gd name="connsiteY1" fmla="*/ 0 h 6874453"/>
              <a:gd name="connsiteX2" fmla="*/ 4909189 w 4909189"/>
              <a:gd name="connsiteY2" fmla="*/ 6874453 h 6874453"/>
              <a:gd name="connsiteX3" fmla="*/ 679539 w 4909189"/>
              <a:gd name="connsiteY3" fmla="*/ 6874453 h 6874453"/>
              <a:gd name="connsiteX4" fmla="*/ 0 w 4909189"/>
              <a:gd name="connsiteY4" fmla="*/ 6194913 h 6874453"/>
              <a:gd name="connsiteX5" fmla="*/ 0 w 4909189"/>
              <a:gd name="connsiteY5" fmla="*/ 679540 h 6874453"/>
              <a:gd name="connsiteX6" fmla="*/ 679539 w 4909189"/>
              <a:gd name="connsiteY6" fmla="*/ 0 h 6874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09189" h="6874453">
                <a:moveTo>
                  <a:pt x="679539" y="0"/>
                </a:moveTo>
                <a:lnTo>
                  <a:pt x="4909189" y="0"/>
                </a:lnTo>
                <a:lnTo>
                  <a:pt x="4909189" y="6874453"/>
                </a:lnTo>
                <a:lnTo>
                  <a:pt x="679539" y="6874453"/>
                </a:lnTo>
                <a:cubicBezTo>
                  <a:pt x="304240" y="6874453"/>
                  <a:pt x="0" y="6570213"/>
                  <a:pt x="0" y="6194913"/>
                </a:cubicBezTo>
                <a:lnTo>
                  <a:pt x="0" y="679540"/>
                </a:lnTo>
                <a:cubicBezTo>
                  <a:pt x="0" y="304240"/>
                  <a:pt x="304240" y="0"/>
                  <a:pt x="679539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BE1BE9-BA27-9B68-E9D6-871E0FBA8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88215" y="583686"/>
            <a:ext cx="4115510" cy="1829832"/>
          </a:xfrm>
        </p:spPr>
        <p:txBody>
          <a:bodyPr anchor="t">
            <a:normAutofit fontScale="90000"/>
          </a:bodyPr>
          <a:lstStyle/>
          <a:p>
            <a:r>
              <a:rPr lang="en-US" sz="3700" dirty="0"/>
              <a:t>THE CURE FOR NAZIS AND THE ECONOMY: WAR!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11E29-090C-5811-43DF-EC89CBA7C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02B7D-325A-5924-E916-DD6719B78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8216" y="2560925"/>
            <a:ext cx="3709114" cy="3572254"/>
          </a:xfrm>
        </p:spPr>
        <p:txBody>
          <a:bodyPr anchor="b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700" dirty="0"/>
              <a:t>Second World War had positive impact on Canada’s economy </a:t>
            </a:r>
          </a:p>
          <a:p>
            <a:pPr marL="0" indent="0">
              <a:lnSpc>
                <a:spcPct val="110000"/>
              </a:lnSpc>
              <a:buNone/>
            </a:pP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Government spending increased; unemployment decreased – less than one percent at end of War </a:t>
            </a:r>
          </a:p>
          <a:p>
            <a:pPr>
              <a:lnSpc>
                <a:spcPct val="110000"/>
              </a:lnSpc>
            </a:pPr>
            <a:endParaRPr lang="en-US" sz="1700" dirty="0"/>
          </a:p>
          <a:p>
            <a:pPr>
              <a:lnSpc>
                <a:spcPct val="110000"/>
              </a:lnSpc>
            </a:pPr>
            <a:r>
              <a:rPr lang="en-US" sz="1700" dirty="0"/>
              <a:t>More than a million women joined workforce</a:t>
            </a:r>
          </a:p>
          <a:p>
            <a:pPr>
              <a:lnSpc>
                <a:spcPct val="110000"/>
              </a:lnSpc>
            </a:pPr>
            <a:endParaRPr lang="en-US" sz="170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AEBC4E-7108-FCEA-915B-4D9DC72DD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233FA-AC15-BD8D-D0C2-1B2DF2C97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2501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5A7FC23-8B51-612D-0894-2FD76DC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World map made up of coins">
            <a:extLst>
              <a:ext uri="{FF2B5EF4-FFF2-40B4-BE49-F238E27FC236}">
                <a16:creationId xmlns:a16="http://schemas.microsoft.com/office/drawing/2014/main" id="{614DF26B-2C13-C39B-59C2-0C6461F23E7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136" b="18613"/>
          <a:stretch/>
        </p:blipFill>
        <p:spPr>
          <a:xfrm>
            <a:off x="1" y="10"/>
            <a:ext cx="12192000" cy="685798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D9518-FD1E-EDAF-468C-BC9E2C8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9ABAEB7-6DB0-5001-2844-0AB248917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708912"/>
            <a:ext cx="12191999" cy="3149088"/>
          </a:xfrm>
          <a:custGeom>
            <a:avLst/>
            <a:gdLst>
              <a:gd name="connsiteX0" fmla="*/ 677913 w 12191999"/>
              <a:gd name="connsiteY0" fmla="*/ 0 h 3149088"/>
              <a:gd name="connsiteX1" fmla="*/ 11514086 w 12191999"/>
              <a:gd name="connsiteY1" fmla="*/ 0 h 3149088"/>
              <a:gd name="connsiteX2" fmla="*/ 12191999 w 12191999"/>
              <a:gd name="connsiteY2" fmla="*/ 677913 h 3149088"/>
              <a:gd name="connsiteX3" fmla="*/ 12191999 w 12191999"/>
              <a:gd name="connsiteY3" fmla="*/ 3149088 h 3149088"/>
              <a:gd name="connsiteX4" fmla="*/ 0 w 12191999"/>
              <a:gd name="connsiteY4" fmla="*/ 3149088 h 3149088"/>
              <a:gd name="connsiteX5" fmla="*/ 0 w 12191999"/>
              <a:gd name="connsiteY5" fmla="*/ 677913 h 3149088"/>
              <a:gd name="connsiteX6" fmla="*/ 677913 w 12191999"/>
              <a:gd name="connsiteY6" fmla="*/ 0 h 3149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1999" h="3149088">
                <a:moveTo>
                  <a:pt x="677913" y="0"/>
                </a:moveTo>
                <a:lnTo>
                  <a:pt x="11514086" y="0"/>
                </a:lnTo>
                <a:cubicBezTo>
                  <a:pt x="11888487" y="0"/>
                  <a:pt x="12191999" y="303512"/>
                  <a:pt x="12191999" y="677913"/>
                </a:cubicBezTo>
                <a:lnTo>
                  <a:pt x="12191999" y="3149088"/>
                </a:lnTo>
                <a:lnTo>
                  <a:pt x="0" y="3149088"/>
                </a:ln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D6311-91D7-5A3C-896E-2A06A37D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4108600"/>
            <a:ext cx="4797012" cy="2248657"/>
          </a:xfrm>
        </p:spPr>
        <p:txBody>
          <a:bodyPr anchor="t">
            <a:normAutofit/>
          </a:bodyPr>
          <a:lstStyle/>
          <a:p>
            <a:r>
              <a:rPr lang="en-US" dirty="0"/>
              <a:t>Bretton Woods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ADD-87A8-6739-1642-D34B1945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1" y="4108600"/>
            <a:ext cx="5232740" cy="244862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Four Achievements:</a:t>
            </a:r>
          </a:p>
          <a:p>
            <a:pPr lvl="1"/>
            <a:r>
              <a:rPr lang="en-US" sz="2000" dirty="0"/>
              <a:t>Reconstruction of Europe after the war </a:t>
            </a:r>
          </a:p>
          <a:p>
            <a:pPr lvl="1"/>
            <a:r>
              <a:rPr lang="en-US" sz="2000" dirty="0"/>
              <a:t>Establish a global money and trade system</a:t>
            </a:r>
          </a:p>
          <a:p>
            <a:pPr lvl="1"/>
            <a:r>
              <a:rPr lang="en-US" sz="2000" dirty="0"/>
              <a:t>Creation of the World Bank </a:t>
            </a:r>
          </a:p>
          <a:p>
            <a:pPr lvl="1"/>
            <a:r>
              <a:rPr lang="en-US" sz="2000" dirty="0"/>
              <a:t>Creation of the IMF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A6E19-87F6-E015-D259-71B20C1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41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273" name="Rectangle 11272">
            <a:extLst>
              <a:ext uri="{FF2B5EF4-FFF2-40B4-BE49-F238E27FC236}">
                <a16:creationId xmlns:a16="http://schemas.microsoft.com/office/drawing/2014/main" id="{30C58FCB-AB15-8F2D-ECB3-614828E436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1D6311-91D7-5A3C-896E-2A06A37DD4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8389" y="750626"/>
            <a:ext cx="5015852" cy="1805607"/>
          </a:xfrm>
        </p:spPr>
        <p:txBody>
          <a:bodyPr anchor="t">
            <a:normAutofit/>
          </a:bodyPr>
          <a:lstStyle/>
          <a:p>
            <a:r>
              <a:rPr lang="en-US" dirty="0"/>
              <a:t>Bretton Woods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D9518-FD1E-EDAF-468C-BC9E2C8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74BADD-87A8-6739-1642-D34B1945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27" y="2569464"/>
            <a:ext cx="4764773" cy="3555491"/>
          </a:xfrm>
        </p:spPr>
        <p:txBody>
          <a:bodyPr anchor="b">
            <a:normAutofit/>
          </a:bodyPr>
          <a:lstStyle/>
          <a:p>
            <a:r>
              <a:rPr lang="en-US" dirty="0">
                <a:hlinkClick r:id="rId2"/>
              </a:rPr>
              <a:t>https://www.youtube.com/watch?v=GVytOtfPZe8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https://youtu.be/1rob7TJ1lVY</a:t>
            </a:r>
            <a:r>
              <a:rPr lang="en-US" dirty="0"/>
              <a:t> </a:t>
            </a:r>
          </a:p>
        </p:txBody>
      </p:sp>
      <p:pic>
        <p:nvPicPr>
          <p:cNvPr id="11268" name="Picture 4" descr="A sports team logo for the 'Bretton Woods Gold Standards'. The logo is dynamic and athletic, featuring a stylized globe at the center, with a muscular arm holding a torch, symbolizing leadership and international unity. The iconic Mount Washington Hotel is reimagined as a stylized, fortified castle, representing strength. '1944', the team's founding year, is prominently featured using bold, sporty typography. The logo is encased in a shield shape, with the team name 'Bretton Woods Gold Standards' in an aggressive, modern font. The color scheme includes bold gold, black, and white, emphasizing prestige and competition.">
            <a:extLst>
              <a:ext uri="{FF2B5EF4-FFF2-40B4-BE49-F238E27FC236}">
                <a16:creationId xmlns:a16="http://schemas.microsoft.com/office/drawing/2014/main" id="{7009C656-58E9-3D49-6D59-140F96D04B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305" r="2806"/>
          <a:stretch/>
        </p:blipFill>
        <p:spPr bwMode="auto">
          <a:xfrm>
            <a:off x="6096000" y="10"/>
            <a:ext cx="6096000" cy="6857990"/>
          </a:xfrm>
          <a:custGeom>
            <a:avLst/>
            <a:gdLst/>
            <a:ahLst/>
            <a:cxnLst/>
            <a:rect l="l" t="t" r="r" b="b"/>
            <a:pathLst>
              <a:path w="6096000" h="6858000">
                <a:moveTo>
                  <a:pt x="677913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677913" y="6858000"/>
                </a:lnTo>
                <a:cubicBezTo>
                  <a:pt x="303512" y="6858000"/>
                  <a:pt x="0" y="6554488"/>
                  <a:pt x="0" y="6180087"/>
                </a:cubicBezTo>
                <a:lnTo>
                  <a:pt x="0" y="677913"/>
                </a:lnTo>
                <a:cubicBezTo>
                  <a:pt x="0" y="303512"/>
                  <a:pt x="303512" y="0"/>
                  <a:pt x="677913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14DCC-F585-D484-6B28-7531A15F5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FFFFFF"/>
                </a:solidFill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A6E19-87F6-E015-D259-71B20C138C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86437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47" name="Rectangle 10246">
            <a:extLst>
              <a:ext uri="{FF2B5EF4-FFF2-40B4-BE49-F238E27FC236}">
                <a16:creationId xmlns:a16="http://schemas.microsoft.com/office/drawing/2014/main" id="{7F61B21B-C704-8330-6871-65617F45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21359F-4773-D0E3-4BA9-ED60C79B5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252" y="752136"/>
            <a:ext cx="3944703" cy="36387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/>
              <a:t>Loans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45E0B-2D6F-7177-7BAD-FC3ACAB58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086" y="2756780"/>
            <a:ext cx="3698627" cy="134378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dirty="0"/>
              <a:t>If you give a loan to someone, what conditions should you be able to set?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0160A-DCAD-0AED-9A7F-2A3EACA9D5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 smtClean="0"/>
              <a:pPr>
                <a:spcAft>
                  <a:spcPts val="600"/>
                </a:spcAft>
              </a:pPr>
              <a:t>5/4/26</a:t>
            </a:fld>
            <a:endParaRPr lang="en-US"/>
          </a:p>
        </p:txBody>
      </p:sp>
      <p:pic>
        <p:nvPicPr>
          <p:cNvPr id="10242" name="Picture 2" descr="A cartoon depicting the concept of tied aid. The scene shows two characters, one representing a donor country and the other a recipient country. The donor character, a smiling anthropomorphic globe wearing a suit and tie, hands over a large sack of money labeled 'AID' to the recipient character, a smaller globe looking grateful yet puzzled. The sack of money is physically tied with a thick rope to a large factory labeled 'MADE IN DONOR COUNTRY', symbolizing the condition that the aid must be spent on goods from the donor country. The background is a simple, colorful depiction of a world map.">
            <a:extLst>
              <a:ext uri="{FF2B5EF4-FFF2-40B4-BE49-F238E27FC236}">
                <a16:creationId xmlns:a16="http://schemas.microsoft.com/office/drawing/2014/main" id="{7BE9F0E4-C8D2-E7C9-5F27-39B24CE04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77"/>
          <a:stretch/>
        </p:blipFill>
        <p:spPr bwMode="auto">
          <a:xfrm>
            <a:off x="5096608" y="72874"/>
            <a:ext cx="7018782" cy="6711603"/>
          </a:xfrm>
          <a:custGeom>
            <a:avLst/>
            <a:gdLst/>
            <a:ahLst/>
            <a:cxnLst/>
            <a:rect l="l" t="t" r="r" b="b"/>
            <a:pathLst>
              <a:path w="7018782" h="6732093">
                <a:moveTo>
                  <a:pt x="697647" y="0"/>
                </a:moveTo>
                <a:lnTo>
                  <a:pt x="6321135" y="0"/>
                </a:lnTo>
                <a:cubicBezTo>
                  <a:pt x="6706435" y="0"/>
                  <a:pt x="7018782" y="312347"/>
                  <a:pt x="7018782" y="697647"/>
                </a:cubicBezTo>
                <a:lnTo>
                  <a:pt x="7018782" y="6034446"/>
                </a:lnTo>
                <a:cubicBezTo>
                  <a:pt x="7018782" y="6419746"/>
                  <a:pt x="6706435" y="6732093"/>
                  <a:pt x="6321135" y="6732093"/>
                </a:cubicBezTo>
                <a:lnTo>
                  <a:pt x="697647" y="6732093"/>
                </a:lnTo>
                <a:cubicBezTo>
                  <a:pt x="312347" y="6732093"/>
                  <a:pt x="0" y="6419746"/>
                  <a:pt x="0" y="6034446"/>
                </a:cubicBezTo>
                <a:lnTo>
                  <a:pt x="0" y="697647"/>
                </a:lnTo>
                <a:cubicBezTo>
                  <a:pt x="0" y="312347"/>
                  <a:pt x="312347" y="0"/>
                  <a:pt x="69764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B6E45D-2BE8-BED9-2228-A20E5DA64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4D46F-AEEC-A6F5-FB31-67A05C47F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16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8EA99A3-B91F-C393-939B-F2A611A33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500137"/>
            <a:ext cx="184731" cy="10002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1236AF40-0D0F-8F0C-8DF7-31748F2CE4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11138" y="164198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16565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>
            <a:extLst>
              <a:ext uri="{FF2B5EF4-FFF2-40B4-BE49-F238E27FC236}">
                <a16:creationId xmlns:a16="http://schemas.microsoft.com/office/drawing/2014/main" id="{05EABF6C-CB6A-7B64-BD6E-BCB1273DF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03168" y="643467"/>
            <a:ext cx="6985663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1164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ACB578-9F18-1F13-E0A5-6901B2797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8233EB-160D-9D3B-C53C-CFE5D2F4B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8747" y="4968689"/>
            <a:ext cx="11206313" cy="95044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THE IMF AND WORLD BANK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45CAF-EBCB-3BF3-42F7-20C116D15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218" y="5897931"/>
            <a:ext cx="11203841" cy="5398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hlinkClick r:id="rId2"/>
              </a:rPr>
              <a:t>https://youtu.be/lN3qrFA4jXc</a:t>
            </a:r>
            <a:r>
              <a:rPr lang="en-US" sz="2000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378759-A610-3F46-D49C-F515F0F4C3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0137" y="63202"/>
            <a:ext cx="2743200" cy="3182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0F996519-E62D-4F8C-AE1E-36928EC7D15C}" type="datetime1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5/4/26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0" name="Graphic 9" descr="Earth Globe Europe-Africa">
            <a:extLst>
              <a:ext uri="{FF2B5EF4-FFF2-40B4-BE49-F238E27FC236}">
                <a16:creationId xmlns:a16="http://schemas.microsoft.com/office/drawing/2014/main" id="{B226D9C9-22F9-C95B-FD34-45CF91E5BD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3569" y="838199"/>
            <a:ext cx="3624859" cy="3624859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0D216-38AC-953F-EF46-57D948120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44016" y="6424761"/>
            <a:ext cx="405993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b="0" kern="1200" cap="all" spc="0" baseline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A81B8D-2B32-328D-A276-07ABBE6D6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3951" y="6425816"/>
            <a:ext cx="42976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376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E42C5-FB62-5DB4-E609-8F2D4BF6A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1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C62D3-3834-882E-2506-ED23BD71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A2E6AC-E2BC-6634-57CF-90499B713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19</a:t>
            </a:fld>
            <a:endParaRPr lang="en-US"/>
          </a:p>
        </p:txBody>
      </p:sp>
      <p:pic>
        <p:nvPicPr>
          <p:cNvPr id="9" name="Online Media 8" descr="American propaganda - Capitalism (1948)">
            <a:hlinkClick r:id="" action="ppaction://media"/>
            <a:extLst>
              <a:ext uri="{FF2B5EF4-FFF2-40B4-BE49-F238E27FC236}">
                <a16:creationId xmlns:a16="http://schemas.microsoft.com/office/drawing/2014/main" id="{F140B760-5FE5-AE91-E4C0-D45AB01C1D9C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100942" y="432707"/>
            <a:ext cx="7990115" cy="5992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95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ylanVTI">
  <a:themeElements>
    <a:clrScheme name="AnalogousFromLightSeedRightStep">
      <a:dk1>
        <a:srgbClr val="000000"/>
      </a:dk1>
      <a:lt1>
        <a:srgbClr val="FFFFFF"/>
      </a:lt1>
      <a:dk2>
        <a:srgbClr val="243341"/>
      </a:dk2>
      <a:lt2>
        <a:srgbClr val="E8E2E2"/>
      </a:lt2>
      <a:accent1>
        <a:srgbClr val="35B0B3"/>
      </a:accent1>
      <a:accent2>
        <a:srgbClr val="4EA6EB"/>
      </a:accent2>
      <a:accent3>
        <a:srgbClr val="6E80EE"/>
      </a:accent3>
      <a:accent4>
        <a:srgbClr val="794EEB"/>
      </a:accent4>
      <a:accent5>
        <a:srgbClr val="C66EEE"/>
      </a:accent5>
      <a:accent6>
        <a:srgbClr val="EB4EDA"/>
      </a:accent6>
      <a:hlink>
        <a:srgbClr val="AE6B69"/>
      </a:hlink>
      <a:folHlink>
        <a:srgbClr val="7F7F7F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602636BD-A055-489B-83EC-AD971B7E5F9C}" vid="{CD33A9BC-C4B5-4F36-8A14-490DC4E38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7414</TotalTime>
  <Words>659</Words>
  <Application>Microsoft Macintosh PowerPoint</Application>
  <PresentationFormat>Widescreen</PresentationFormat>
  <Paragraphs>140</Paragraphs>
  <Slides>19</Slides>
  <Notes>3</Notes>
  <HiddenSlides>0</HiddenSlides>
  <MMClips>2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Arial</vt:lpstr>
      <vt:lpstr>ff1</vt:lpstr>
      <vt:lpstr>Google Sans</vt:lpstr>
      <vt:lpstr>Neue Haas Grotesk Text Pro</vt:lpstr>
      <vt:lpstr>Source Sans Pro</vt:lpstr>
      <vt:lpstr>DylanVTI</vt:lpstr>
      <vt:lpstr>ECONOMIC GLOBALIZATION  C.R.E.A.M.</vt:lpstr>
      <vt:lpstr>Economic Globalization</vt:lpstr>
      <vt:lpstr>GLOBAL FACTORS</vt:lpstr>
      <vt:lpstr>War and the Economy</vt:lpstr>
      <vt:lpstr>The War to end all Wars</vt:lpstr>
      <vt:lpstr>THE END OF THE WAR TO END ALL WARS</vt:lpstr>
      <vt:lpstr>From Russia with Love - 1917</vt:lpstr>
      <vt:lpstr>IN RUSSIA, NOTES WRITE YOU</vt:lpstr>
      <vt:lpstr>THE LARGE UNHAPPINESS</vt:lpstr>
      <vt:lpstr>MAKE AMERICA FRIENDLESS AGAIN</vt:lpstr>
      <vt:lpstr>CANADIAN SADNESS </vt:lpstr>
      <vt:lpstr>DIE GROßE DEPRESSION</vt:lpstr>
      <vt:lpstr>THE CURE FOR NAZIS AND THE ECONOMY: WAR!</vt:lpstr>
      <vt:lpstr>Bretton Woods</vt:lpstr>
      <vt:lpstr>Bretton Woods</vt:lpstr>
      <vt:lpstr>Loans</vt:lpstr>
      <vt:lpstr>PowerPoint Presentation</vt:lpstr>
      <vt:lpstr>THE IMF AND WORLD BANK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ECONOMIC GLOBALIZATION  C.R.E.A.M.</dc:title>
  <dc:creator>Adam McRae</dc:creator>
  <cp:lastModifiedBy>Adam Mcrae</cp:lastModifiedBy>
  <cp:revision>3</cp:revision>
  <dcterms:created xsi:type="dcterms:W3CDTF">2024-05-13T14:51:13Z</dcterms:created>
  <dcterms:modified xsi:type="dcterms:W3CDTF">2026-05-04T15:45:17Z</dcterms:modified>
</cp:coreProperties>
</file>